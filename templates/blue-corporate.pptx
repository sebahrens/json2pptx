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305" r:id="rId5"/>
    <p:sldId id="307" r:id="rId6"/>
    <p:sldId id="308" r:id="rId7"/>
    <p:sldId id="31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orient="horz" pos="3792" userDrawn="1">
          <p15:clr>
            <a:srgbClr val="A4A3A4"/>
          </p15:clr>
        </p15:guide>
        <p15:guide id="3" pos="528" userDrawn="1">
          <p15:clr>
            <a:srgbClr val="A4A3A4"/>
          </p15:clr>
        </p15:guide>
        <p15:guide id="4" pos="7128" userDrawn="1">
          <p15:clr>
            <a:srgbClr val="A4A3A4"/>
          </p15:clr>
        </p15:guide>
        <p15:guide id="5" orient="horz" pos="2808" userDrawn="1">
          <p15:clr>
            <a:srgbClr val="A4A3A4"/>
          </p15:clr>
        </p15:guide>
        <p15:guide id="6" pos="2976" userDrawn="1">
          <p15:clr>
            <a:srgbClr val="A4A3A4"/>
          </p15:clr>
        </p15:guide>
        <p15:guide id="7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77"/>
    <p:restoredTop sz="94682"/>
  </p:normalViewPr>
  <p:slideViewPr>
    <p:cSldViewPr snapToGrid="0">
      <p:cViewPr varScale="1">
        <p:scale>
          <a:sx n="108" d="100"/>
          <a:sy n="108" d="100"/>
        </p:scale>
        <p:origin x="1056" y="200"/>
      </p:cViewPr>
      <p:guideLst>
        <p:guide orient="horz" pos="3792"/>
        <p:guide pos="528"/>
        <p:guide pos="7128"/>
        <p:guide orient="horz" pos="2808"/>
        <p:guide pos="2976"/>
        <p:guide orient="horz" pos="9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DBDA2-4480-4D82-8886-1B64A7ECBBAC}" type="datetimeFigureOut">
              <a:rPr lang="en-US" noProof="0" smtClean="0"/>
              <a:t>5/20/26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DDBACE-0F8F-43FD-98F0-DEE13552DADA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55722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subtitle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 marL="0" indent="0">
              <a:buNone/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1247" y="1536192"/>
            <a:ext cx="10479215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58800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1EF8CAB-74EE-F5E0-2A98-D49729C5739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0000" t="1" b="49999"/>
          <a:stretch/>
        </p:blipFill>
        <p:spPr>
          <a:xfrm>
            <a:off x="9167149" y="0"/>
            <a:ext cx="3024850" cy="1701478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8783521D-ED5D-D5DB-16FA-CD1B1203DF6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283" r="87659"/>
          <a:stretch/>
        </p:blipFill>
        <p:spPr>
          <a:xfrm>
            <a:off x="0" y="5731979"/>
            <a:ext cx="1504645" cy="114640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9381EED1-F8B1-76DD-2AF9-959C65437FF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59978" y="9452"/>
            <a:ext cx="1527375" cy="152737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D23ADF4-87AF-5693-9986-341478D502B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1186679" y="9452"/>
            <a:ext cx="1005321" cy="1527375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E5EE104-2241-C262-895C-BCA76913401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body">
            <a:extLst>
              <a:ext uri="{FF2B5EF4-FFF2-40B4-BE49-F238E27FC236}">
                <a16:creationId xmlns:a16="http://schemas.microsoft.com/office/drawing/2014/main" id="{19B7E7AC-A0E6-BE9A-4728-8FE036CF3538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841248" y="1536827"/>
            <a:ext cx="10479024" cy="4479925"/>
          </a:xfrm>
        </p:spPr>
        <p:txBody>
          <a:bodyPr>
            <a:normAutofit/>
          </a:bodyPr>
          <a:lstStyle>
            <a:lvl1pPr>
              <a:lnSpc>
                <a:spcPct val="140000"/>
              </a:lnSpc>
              <a:spcAft>
                <a:spcPts val="0"/>
              </a:spcAft>
              <a:defRPr sz="2800"/>
            </a:lvl1pPr>
            <a:lvl2pPr>
              <a:defRPr sz="2800"/>
            </a:lvl2pPr>
            <a:lvl3pPr>
              <a:defRPr sz="2400"/>
            </a:lvl3pPr>
            <a:lvl4pPr>
              <a:defRPr sz="2400"/>
            </a:lvl4pPr>
            <a:lvl5pPr>
              <a:defRPr sz="20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640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F0337A6-0579-B5BC-C526-F7EBDDB8E84A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4166F179-9203-AC2D-A267-E25FA28E978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BFC5468-5E1B-2FE4-DA95-D0CCC383D3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17493C4-12E7-500C-5FD5-68370B57A20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149B5038-6091-D5DF-F2DA-3900885F498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9442ADAB-F6BA-A55C-036E-C837F95C8F8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1" name="title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7" y="841375"/>
            <a:ext cx="6931152" cy="5175377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2CA1527B-3DB0-B164-3B09-C296F0E7D5C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229600" y="841375"/>
            <a:ext cx="3600450" cy="5175250"/>
          </a:xfrm>
        </p:spPr>
        <p:txBody>
          <a:bodyPr/>
          <a:lstStyle>
            <a:lvl1pPr>
              <a:buNone/>
              <a:defRPr lang="en-AU" sz="20800" kern="1200" dirty="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##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89452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3" name="title">
            <a:extLst>
              <a:ext uri="{FF2B5EF4-FFF2-40B4-BE49-F238E27FC236}">
                <a16:creationId xmlns:a16="http://schemas.microsoft.com/office/drawing/2014/main" id="{0B9C7C4B-FC2C-5D51-5679-3D5ED8518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3" y="832104"/>
            <a:ext cx="10479088" cy="2587625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C79F5B69-7199-E3E6-5554-6CC2207D48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375" y="3705309"/>
            <a:ext cx="10479088" cy="2587625"/>
          </a:xfrm>
        </p:spPr>
        <p:txBody>
          <a:bodyPr/>
          <a:lstStyle>
            <a:lvl1pPr marL="0" indent="0">
              <a:lnSpc>
                <a:spcPct val="130000"/>
              </a:lnSpc>
              <a:spcAft>
                <a:spcPts val="1000"/>
              </a:spcAft>
              <a:buNone/>
              <a:defRPr b="1" i="0" cap="all" spc="3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30931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sz="quarter" idx="1"/>
          </p:nvPr>
        </p:nvSpPr>
        <p:spPr>
          <a:xfrm>
            <a:off x="841248" y="1536827"/>
            <a:ext cx="5057775" cy="4479925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600"/>
              </a:spcAft>
              <a:defRPr sz="18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  <a:endParaRPr lang="en-US" dirty="0"/>
          </a:p>
        </p:txBody>
      </p:sp>
      <p:sp>
        <p:nvSpPr>
          <p:cNvPr id="4" name="body_2"/>
          <p:cNvSpPr>
            <a:spLocks noGrp="1"/>
          </p:cNvSpPr>
          <p:nvPr>
            <p:ph type="body" sz="quarter" idx="2"/>
          </p:nvPr>
        </p:nvSpPr>
        <p:spPr>
          <a:xfrm>
            <a:off x="6262497" y="1536827"/>
            <a:ext cx="5057775" cy="4479925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600"/>
              </a:spcAft>
              <a:defRPr sz="18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292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/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152000"/>
            <a:ext cx="11329200" cy="5039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000" y="6365893"/>
            <a:ext cx="41148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F7E44-8ABB-4ABE-998C-AFEFE7AA05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7936" y="6385422"/>
            <a:ext cx="843264" cy="288000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algn="r">
              <a:defRPr lang="en-ZA" sz="1000" b="0" smtClean="0">
                <a:solidFill>
                  <a:sysClr val="windowText" lastClr="000000"/>
                </a:solidFill>
              </a:defRPr>
            </a:lvl1pPr>
          </a:lstStyle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703" r:id="rId4"/>
    <p:sldLayoutId id="2147483704" r:id="rId6"/>
    <p:sldLayoutId id="2147483705" r:id="rId7"/>
    <p:sldLayoutId id="2147483706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ZA" sz="3200" b="1" kern="1200" spc="-150" dirty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0"/>
        </a:spcBef>
        <a:spcAft>
          <a:spcPts val="1800"/>
        </a:spcAft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F917E-922A-1054-6306-D37C378F1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/>
          <a:lstStyle/>
          <a:p>
            <a:r>
              <a:rPr lang="en-US" dirty="0"/>
              <a:t>Q4 MARKET ANALYSIS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3D50B0-02F8-A1E6-8A67-C0B7034A47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/>
          <a:p>
            <a:r>
              <a:rPr lang="en-US" dirty="0"/>
              <a:t>Business </a:t>
            </a:r>
            <a:br>
              <a:rPr lang="en-US" dirty="0"/>
            </a:br>
            <a:r>
              <a:rPr lang="en-US" dirty="0"/>
              <a:t>presentation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6999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1F36F11-A50A-4347-9430-9522EAFCAB7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41248" y="841248"/>
            <a:ext cx="6931152" cy="557784"/>
          </a:xfrm>
        </p:spPr>
        <p:txBody>
          <a:bodyPr/>
          <a:lstStyle/>
          <a:p>
            <a:r>
              <a:rPr lang="en-US" dirty="0"/>
              <a:t>NAVIGATE THE FUTURE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1E0E93-C6B0-0C8B-16D2-354982229D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6931152" cy="4480560"/>
          </a:xfrm>
        </p:spPr>
        <p:txBody>
          <a:bodyPr/>
          <a:lstStyle/>
          <a:p>
            <a:r>
              <a:rPr lang="en-US" dirty="0"/>
              <a:t>Strategies</a:t>
            </a:r>
            <a:br>
              <a:rPr lang="en-US" dirty="0"/>
            </a:br>
            <a:r>
              <a:rPr lang="en-US" dirty="0"/>
              <a:t>for growth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6520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34DAF-F207-3061-24D6-6AFF55241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MARKET ANALYSIS</a:t>
            </a:r>
            <a:br>
              <a:rPr lang="en-US" dirty="0"/>
            </a:b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94AC61-4F6E-98E2-D42B-F2114BBA120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We have identified important key trends that demand our attention.</a:t>
            </a:r>
          </a:p>
          <a:p>
            <a:r>
              <a:rPr lang="en-US" dirty="0"/>
              <a:t>Data reveals a steady increase in consumer demand for sustainable products, presenting an opportunity for our eco-friendly offerings.</a:t>
            </a:r>
          </a:p>
          <a:p>
            <a:r>
              <a:rPr lang="en-US" dirty="0"/>
              <a:t>Our competitors are now focusing on digital marketing strategies, suggesting a shift in consumer behavior.</a:t>
            </a:r>
          </a:p>
          <a:p>
            <a:r>
              <a:rPr lang="en-US" dirty="0"/>
              <a:t>Understanding these nuanced dynamics positions us to adapt and capitalize on emerging market preferences.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F9477-0E09-541A-1BEE-18EAF43FE0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475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>
            <a:extLst>
              <a:ext uri="{FF2B5EF4-FFF2-40B4-BE49-F238E27FC236}">
                <a16:creationId xmlns:a16="http://schemas.microsoft.com/office/drawing/2014/main" id="{CC25EE42-B3D5-AD1E-48BE-54CEFF2E3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4027D16-8477-9439-2912-A02011AD8A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41375" y="3705309"/>
            <a:ext cx="10479088" cy="2587625"/>
          </a:xfrm>
        </p:spPr>
        <p:txBody>
          <a:bodyPr/>
          <a:lstStyle/>
          <a:p>
            <a:r>
              <a:rPr lang="en-US" dirty="0"/>
              <a:t>PEYTON DAVIS</a:t>
            </a:r>
            <a:br>
              <a:rPr lang="en-US" dirty="0"/>
            </a:br>
            <a:r>
              <a:rPr lang="en-US" dirty="0"/>
              <a:t>424-555-0124</a:t>
            </a:r>
            <a:br>
              <a:rPr lang="en-US" dirty="0"/>
            </a:br>
            <a:r>
              <a:rPr lang="en-US" dirty="0"/>
              <a:t>PEYTON@PROSEWARE.COM</a:t>
            </a:r>
            <a:br>
              <a:rPr lang="en-US" dirty="0"/>
            </a:br>
            <a:r>
              <a:rPr lang="en-US" dirty="0"/>
              <a:t>WWW.PROSEWARE.COM</a:t>
            </a:r>
          </a:p>
        </p:txBody>
      </p:sp>
    </p:spTree>
    <p:extLst>
      <p:ext uri="{BB962C8B-B14F-4D97-AF65-F5344CB8AC3E}">
        <p14:creationId xmlns:p14="http://schemas.microsoft.com/office/powerpoint/2010/main" val="198843706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M6683539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5BC7E"/>
      </a:accent1>
      <a:accent2>
        <a:srgbClr val="FFC330"/>
      </a:accent2>
      <a:accent3>
        <a:srgbClr val="BE80FF"/>
      </a:accent3>
      <a:accent4>
        <a:srgbClr val="FF8345"/>
      </a:accent4>
      <a:accent5>
        <a:srgbClr val="FF70BF"/>
      </a:accent5>
      <a:accent6>
        <a:srgbClr val="60A2F5"/>
      </a:accent6>
      <a:hlink>
        <a:srgbClr val="5C4EDC"/>
      </a:hlink>
      <a:folHlink>
        <a:srgbClr val="7FC5FF"/>
      </a:folHlink>
    </a:clrScheme>
    <a:fontScheme name="Custom 32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18000">
              <a:schemeClr val="accent1">
                <a:lumMod val="5000"/>
                <a:lumOff val="95000"/>
              </a:schemeClr>
            </a:gs>
            <a:gs pos="100000">
              <a:schemeClr val="accent3">
                <a:alpha val="71000"/>
              </a:schemeClr>
            </a:gs>
          </a:gsLst>
          <a:path path="circle">
            <a:fillToRect l="100000" b="100000"/>
          </a:path>
          <a:tileRect t="-100000" r="-100000"/>
        </a:gradFill>
        <a:ln>
          <a:noFill/>
        </a:ln>
        <a:effectLst>
          <a:outerShdw blurRad="330200" dist="304800" dir="5400000" algn="t" rotWithShape="0">
            <a:prstClr val="black">
              <a:alpha val="39000"/>
            </a:prstClr>
          </a:outerShdw>
        </a:effectLst>
      </a:spPr>
      <a:bodyPr rtlCol="0" anchor="ctr"/>
      <a:lstStyle>
        <a:defPPr algn="ctr">
          <a:defRPr>
            <a:solidFill>
              <a:schemeClr val="l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M66835393_win32_SD_v3" id="{4170EB69-3ACE-4C18-BE4C-C6CBD8BF8A79}" vid="{8A480AB3-AE5D-4813-AA67-ADACC5EA6C3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9" ma:contentTypeDescription="Create a new document." ma:contentTypeScope="" ma:versionID="6a914531ae0f23be31da2eba1f3b42a9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ae00154c9e66547f022c4923f88826d6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5E72E99-0076-433E-AD3A-575A11FAB73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B247F30-5811-40C0-99EC-CF53200590BE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A8837B91-4329-4308-94DA-BB811B5F309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3</TotalTime>
  <Words>103</Words>
  <Application>Microsoft Macintosh PowerPoint</Application>
  <PresentationFormat>Widescreen</PresentationFormat>
  <Paragraphs>12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Light</vt:lpstr>
      <vt:lpstr>Arial</vt:lpstr>
      <vt:lpstr>Calibri</vt:lpstr>
      <vt:lpstr>Custom</vt:lpstr>
      <vt:lpstr>Q4 MARKET ANALYSIS </vt:lpstr>
      <vt:lpstr>NAVIGATE THE FUTURE  </vt:lpstr>
      <vt:lpstr>CURRENT MARKET ANALYSIS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Ahrens</dc:creator>
  <cp:lastModifiedBy>Sebastian Ahrens</cp:lastModifiedBy>
  <cp:revision>1</cp:revision>
  <dcterms:created xsi:type="dcterms:W3CDTF">2026-05-20T06:55:13Z</dcterms:created>
  <dcterms:modified xsi:type="dcterms:W3CDTF">2026-05-20T06:58:27Z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