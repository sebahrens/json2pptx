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Default Extension="json" ContentType="application/json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 varScale="1">
        <p:scale>
          <a:sx n="108" d="100"/>
          <a:sy n="108" d="100"/>
        </p:scale>
        <p:origin x="1056" y="20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theme" Target="theme/theme1.xml"></Relationship><Relationship Id="rId3" Type="http://schemas.openxmlformats.org/officeDocument/2006/relationships/customXml" Target="../customXml/item3.xml"></Relationship><Relationship Id="rId12" Type="http://schemas.openxmlformats.org/officeDocument/2006/relationships/viewProps" Target="viewProps.xml"></Relationship><Relationship Id="rId2" Type="http://schemas.openxmlformats.org/officeDocument/2006/relationships/customXml" Target="../customXml/item2.xml"></Relationship><Relationship Id="rId1" Type="http://schemas.openxmlformats.org/officeDocument/2006/relationships/customXml" Target="../customXml/item1.xml"></Relationship><Relationship Id="rId11" Type="http://schemas.openxmlformats.org/officeDocument/2006/relationships/presProps" Target="presProps.xml"></Relationship><Relationship Id="rId10" Type="http://schemas.openxmlformats.org/officeDocument/2006/relationships/handoutMaster" Target="handoutMasters/handoutMaster1.xml"></Relationship><Relationship Id="rId4" Type="http://schemas.openxmlformats.org/officeDocument/2006/relationships/slideMaster" Target="slideMasters/slideMaster1.xml"></Relationship><Relationship Id="rId9" Type="http://schemas.openxmlformats.org/officeDocument/2006/relationships/notesMaster" Target="notesMasters/notesMaster1.xml"></Relationship><Relationship Id="rId14" Type="http://schemas.openxmlformats.org/officeDocument/2006/relationships/tableStyles" Target="tableStyles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5/20/26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9167149" y="0"/>
            <a:ext cx="3024850" cy="170147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9978" y="9452"/>
            <a:ext cx="1527375" cy="15273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1186679" y="9452"/>
            <a:ext cx="1005321" cy="1527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10479024" cy="4166752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000"/>
            </a:lvl1pPr>
            <a:lvl2pPr>
              <a:lnSpc>
                <a:spcPct val="140000"/>
              </a:lnSpc>
              <a:defRPr sz="2000"/>
            </a:lvl2pPr>
            <a:lvl3pPr>
              <a:lnSpc>
                <a:spcPct val="140000"/>
              </a:lnSpc>
              <a:defRPr sz="1600"/>
            </a:lvl3pPr>
            <a:lvl4pPr>
              <a:lnSpc>
                <a:spcPct val="140000"/>
              </a:lnSpc>
              <a:defRPr sz="1600"/>
            </a:lvl4pPr>
            <a:lvl5pPr>
              <a:lnSpc>
                <a:spcPct val="140000"/>
              </a:lnSpc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841375"/>
            <a:ext cx="6931152" cy="5175377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2CA1527B-3DB0-B164-3B09-C296F0E7D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29600" y="841375"/>
            <a:ext cx="3600450" cy="5175250"/>
          </a:xfrm>
        </p:spPr>
        <p:txBody>
          <a:bodyPr/>
          <a:lstStyle>
            <a:lvl1pPr>
              <a:buNone/>
              <a:defRPr lang="en-AU" sz="20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##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262497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92A910-0A08-40A7-B860-474129805EAB}"/>
              </a:ext>
            </a:extLst>
          </p:cNvPr>
          <p:cNvSpPr>
            <a:spLocks noGrp="1"/>
          </p:cNvSpPr>
          <p:nvPr>
            <p:ph type="dt" sz="quarter" idx="20"/>
          </p:nvPr>
        </p:nvSpPr>
        <p:spPr>
          <a:xfrm>
            <a:off x="432000" y="6365893"/>
            <a:ext cx="32004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3" r:id="rId4"/>
    <p:sldLayoutId id="2147483704" r:id="rId6"/>
    <p:sldLayoutId id="2147483705" r:id="rId7"/>
    <p:sldLayoutId id="214748370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6.png"></Relationship><Relationship Id="rId3" Type="http://schemas.openxmlformats.org/officeDocument/2006/relationships/image" Target="../media/image5.svg"></Relationship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/>
          <p:cNvSpPr/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Scope and investment decision</a:t>
            </a:r>
          </a:p>
        </p:txBody>
      </p:sp>
      <p:sp>
        <p:nvSpPr>
          <p:cNvPr id="11" name="title"/>
          <p:cNvSpPr/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 wrap="square">
            <a:normAutofit/>
          </a:bodyPr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Nordbolt diligence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2359104"/>
            <a:ext cx="510235" cy="711200"/>
          </a:xfrm>
          <a:prstGeom prst="rect">
            <a:avLst/>
          </a:prstGeom>
          <a:noFill/>
        </p:spPr>
        <p:txBody>
          <a:bodyPr wrap="square" anchor="t" lIns="0" tIns="173990" rIns="180000" bIns="173990">
            <a:normAutofit/>
          </a:bodyPr>
          <a:lstStyle/>
          <a:p>
            <a:pPr algn="l"/>
            <a:r>
              <a:rPr sz="2200" b="1">
                <a:solidFill>
                  <a:schemeClr val="dk2"/>
                </a:solidFill>
                <a:latin typeface="+mn-lt"/>
              </a:rPr>
              <a:t>1</a:t>
            </a:r>
          </a:p>
        </p:txBody>
      </p:sp>
      <p:sp>
        <p:nvSpPr>
          <p:cNvPr id="201" name="Shape 201"/>
          <p:cNvSpPr/>
          <p:nvPr/>
        </p:nvSpPr>
        <p:spPr>
          <a:xfrm>
            <a:off x="1503883" y="2359104"/>
            <a:ext cx="4592117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 b="1">
                <a:solidFill>
                  <a:schemeClr val="dk2"/>
                </a:solidFill>
                <a:latin typeface="+mn-lt"/>
              </a:rPr>
              <a:t>Nordbolt earns a 14.6% margin</a:t>
            </a:r>
          </a:p>
        </p:txBody>
      </p:sp>
      <p:sp>
        <p:nvSpPr>
          <p:cNvPr id="202" name="Shape 202"/>
          <p:cNvSpPr/>
          <p:nvPr/>
        </p:nvSpPr>
        <p:spPr>
          <a:xfrm>
            <a:off x="6248400" y="2359104"/>
            <a:ext cx="5102352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Revenue is €212m and EBITDA is €31m.</a:t>
            </a:r>
          </a:p>
        </p:txBody>
      </p:sp>
      <p:sp>
        <p:nvSpPr>
          <p:cNvPr id="203" name="Shape 203"/>
          <p:cNvSpPr/>
          <p:nvPr/>
        </p:nvSpPr>
        <p:spPr>
          <a:xfrm>
            <a:off x="841248" y="3159204"/>
            <a:ext cx="10509504" cy="9525"/>
          </a:xfrm>
          <a:prstGeom prst="rect">
            <a:avLst/>
          </a:prstGeom>
          <a:solidFill>
            <a:schemeClr val="dk1">
              <a:alpha val="30000"/>
            </a:schemeClr>
          </a:solidFill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3257629"/>
            <a:ext cx="510235" cy="711200"/>
          </a:xfrm>
          <a:prstGeom prst="rect">
            <a:avLst/>
          </a:prstGeom>
          <a:noFill/>
        </p:spPr>
        <p:txBody>
          <a:bodyPr wrap="square" anchor="t" lIns="0" tIns="173990" rIns="180000" bIns="173990">
            <a:normAutofit/>
          </a:bodyPr>
          <a:lstStyle/>
          <a:p>
            <a:pPr algn="l"/>
            <a:r>
              <a:rPr sz="2200" b="1">
                <a:solidFill>
                  <a:schemeClr val="dk2"/>
                </a:solidFill>
                <a:latin typeface="+mn-lt"/>
              </a:rPr>
              <a:t>2</a:t>
            </a:r>
          </a:p>
        </p:txBody>
      </p:sp>
      <p:sp>
        <p:nvSpPr>
          <p:cNvPr id="205" name="Shape 205"/>
          <p:cNvSpPr/>
          <p:nvPr/>
        </p:nvSpPr>
        <p:spPr>
          <a:xfrm>
            <a:off x="1503883" y="3257629"/>
            <a:ext cx="4592117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 b="1">
                <a:solidFill>
                  <a:schemeClr val="dk2"/>
                </a:solidFill>
                <a:latin typeface="+mn-lt"/>
              </a:rPr>
              <a:t>Price explains most of the earnings gain</a:t>
            </a:r>
          </a:p>
        </p:txBody>
      </p:sp>
      <p:sp>
        <p:nvSpPr>
          <p:cNvPr id="206" name="Shape 206"/>
          <p:cNvSpPr/>
          <p:nvPr/>
        </p:nvSpPr>
        <p:spPr>
          <a:xfrm>
            <a:off x="6248400" y="3257629"/>
            <a:ext cx="5102352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Price added €6.5m of the €7m EBITDA increase.</a:t>
            </a:r>
          </a:p>
        </p:txBody>
      </p:sp>
      <p:sp>
        <p:nvSpPr>
          <p:cNvPr id="207" name="Shape 207"/>
          <p:cNvSpPr/>
          <p:nvPr/>
        </p:nvSpPr>
        <p:spPr>
          <a:xfrm>
            <a:off x="841248" y="4057729"/>
            <a:ext cx="10509504" cy="9525"/>
          </a:xfrm>
          <a:prstGeom prst="rect">
            <a:avLst/>
          </a:prstGeom>
          <a:solidFill>
            <a:schemeClr val="dk1">
              <a:alpha val="30000"/>
            </a:schemeClr>
          </a:solidFill>
        </p:spPr>
        <p:txBody>
          <a:bodyPr/>
          <a:lstStyle/>
          <a:p/>
        </p:txBody>
      </p:sp>
      <p:sp>
        <p:nvSpPr>
          <p:cNvPr id="208" name="Shape 208"/>
          <p:cNvSpPr/>
          <p:nvPr/>
        </p:nvSpPr>
        <p:spPr>
          <a:xfrm>
            <a:off x="841248" y="4156154"/>
            <a:ext cx="510235" cy="927100"/>
          </a:xfrm>
          <a:prstGeom prst="rect">
            <a:avLst/>
          </a:prstGeom>
          <a:noFill/>
        </p:spPr>
        <p:txBody>
          <a:bodyPr wrap="square" anchor="t" lIns="0" tIns="180000" rIns="180000" bIns="180000">
            <a:normAutofit/>
          </a:bodyPr>
          <a:lstStyle/>
          <a:p>
            <a:pPr algn="l"/>
            <a:r>
              <a:rPr sz="2200" b="1">
                <a:solidFill>
                  <a:schemeClr val="dk2"/>
                </a:solidFill>
                <a:latin typeface="+mn-lt"/>
              </a:rPr>
              <a:t>3</a:t>
            </a:r>
          </a:p>
        </p:txBody>
      </p:sp>
      <p:sp>
        <p:nvSpPr>
          <p:cNvPr id="209" name="Shape 209"/>
          <p:cNvSpPr/>
          <p:nvPr/>
        </p:nvSpPr>
        <p:spPr>
          <a:xfrm>
            <a:off x="1503883" y="4156154"/>
            <a:ext cx="4592117" cy="9271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 b="1">
                <a:solidFill>
                  <a:schemeClr val="dk2"/>
                </a:solidFill>
                <a:latin typeface="+mn-lt"/>
              </a:rPr>
              <a:t>Scope B fits the four-week deadline</a:t>
            </a:r>
          </a:p>
        </p:txBody>
      </p:sp>
      <p:sp>
        <p:nvSpPr>
          <p:cNvPr id="210" name="Shape 210"/>
          <p:cNvSpPr/>
          <p:nvPr/>
        </p:nvSpPr>
        <p:spPr>
          <a:xfrm>
            <a:off x="6248400" y="4156154"/>
            <a:ext cx="5102352" cy="9271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25 interviews test price risk. Scope C adds a week and €90k.</a:t>
            </a:r>
          </a:p>
        </p:txBody>
      </p:sp>
      <p:sp>
        <p:nvSpPr>
          <p:cNvPr id="212" name="Shape 212"/>
          <p:cNvSpPr/>
          <p:nvPr/>
        </p:nvSpPr>
        <p:spPr>
          <a:xfrm>
            <a:off x="892048" y="5286558"/>
            <a:ext cx="38100" cy="291996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3" name="Shape 213"/>
          <p:cNvSpPr/>
          <p:nvPr/>
        </p:nvSpPr>
        <p:spPr>
          <a:xfrm>
            <a:off x="930275" y="5286558"/>
            <a:ext cx="10369677" cy="2919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152400" tIns="25400" rIns="0" bIns="25400">
            <a:norm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+mn-lt"/>
              </a:rPr>
              <a:t>Approve scope B on 9 October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answers the bid question for </a:t>
            </a:r>
            <a:r>
              <a:rPr lang="en-GB" cap="none"/>
              <a:t>€320k</a:t>
            </a:r>
          </a:p>
        </p:txBody>
      </p:sp>
      <p:sp>
        <p:nvSpPr>
          <p:cNvPr id="214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5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892048" y="1900800"/>
            <a:ext cx="6663538" cy="254000"/>
          </a:xfrm>
          <a:prstGeom prst="rect">
            <a:avLst/>
          </a:prstGeom>
          <a:noFill/>
        </p:spPr>
        <p:txBody>
          <a:bodyPr wrap="square" anchor="b" lIns="180000" tIns="0" rIns="180000" bIns="0">
            <a:normAutofit/>
          </a:bodyPr>
          <a:lstStyle/>
          <a:p>
            <a:pPr algn="l"/>
            <a:r>
              <a:rPr sz="1400" b="1">
                <a:latin typeface="+mn-lt"/>
              </a:rPr>
              <a:t>European fastener market (EUR bn)</a:t>
            </a:r>
          </a:p>
        </p:txBody>
      </p:sp>
      <p:sp>
        <p:nvSpPr>
          <p:cNvPr id="206" name="Shape 206"/>
          <p:cNvSpPr/>
          <p:nvPr/>
        </p:nvSpPr>
        <p:spPr>
          <a:xfrm>
            <a:off x="7809586" y="1951600"/>
            <a:ext cx="3439566" cy="2450477"/>
          </a:xfrm>
          <a:prstGeom prst="rect">
            <a:avLst/>
          </a:prstGeom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8500" b="1">
                <a:solidFill>
                  <a:schemeClr val="dk2"/>
                </a:solidFill>
                <a:latin typeface="+mn-lt"/>
              </a:rPr>
              <a:t>2.3%</a:t>
            </a:r>
          </a:p>
          <a:p>
            <a:pPr algn="ctr"/>
            <a:r>
              <a:rPr sz="1800">
                <a:solidFill>
                  <a:schemeClr val="dk1"/>
                </a:solidFill>
                <a:latin typeface="+mn-lt"/>
              </a:rPr>
              <a:t>Nordbolt market share</a:t>
            </a:r>
          </a:p>
        </p:txBody>
      </p:sp>
      <p:sp>
        <p:nvSpPr>
          <p:cNvPr id="207" name="Shape 207"/>
          <p:cNvSpPr/>
          <p:nvPr/>
        </p:nvSpPr>
        <p:spPr>
          <a:xfrm>
            <a:off x="7809586" y="4605277"/>
            <a:ext cx="3439566" cy="254000"/>
          </a:xfrm>
          <a:prstGeom prst="rect">
            <a:avLst/>
          </a:prstGeom>
          <a:noFill/>
        </p:spPr>
        <p:txBody>
          <a:bodyPr wrap="square" anchor="b" lIns="180000" tIns="0" rIns="180000" bIns="0">
            <a:normAutofit/>
          </a:bodyPr>
          <a:lstStyle/>
          <a:p>
            <a:pPr algn="l"/>
            <a:r>
              <a:rPr sz="1400" b="1">
                <a:latin typeface="+mn-lt"/>
              </a:rPr>
              <a:t>Position</a:t>
            </a:r>
          </a:p>
        </p:txBody>
      </p:sp>
      <p:sp>
        <p:nvSpPr>
          <p:cNvPr id="208" name="Shape 208"/>
          <p:cNvSpPr/>
          <p:nvPr/>
        </p:nvSpPr>
        <p:spPr>
          <a:xfrm>
            <a:off x="7809586" y="4910077"/>
            <a:ext cx="3439566" cy="839257"/>
          </a:xfrm>
          <a:prstGeom prst="rect">
            <a:avLst/>
          </a:prstGeom>
          <a:noFill/>
        </p:spPr>
        <p:txBody>
          <a:bodyPr wrap="square" anchor="t" lIns="180000" tIns="180000" rIns="180000" bIns="180000">
            <a:normAutofit/>
          </a:bodyPr>
          <a:lstStyle/>
          <a:p>
            <a:pPr algn="l" marL="115570" indent="-115570">
              <a:buFont typeface="Arial"/>
              <a:buChar char="•"/>
            </a:pPr>
            <a:r>
              <a:rPr sz="1400">
                <a:latin typeface="+mn-lt"/>
              </a:rPr>
              <a:t>Sixth in Europe</a:t>
            </a:r>
          </a:p>
          <a:p>
            <a:pPr algn="l" marL="115570" indent="-115570">
              <a:buFont typeface="Arial"/>
              <a:buChar char="•"/>
            </a:pPr>
            <a:r>
              <a:rPr sz="1400">
                <a:latin typeface="+mn-lt"/>
              </a:rPr>
              <a:t>2028 estimate is a forecast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Nordbolt holds 2.3% of a growing market</a:t>
            </a:r>
          </a:p>
        </p:txBody>
      </p:sp>
      <p:pic>
        <p:nvPicPr>
          <p:cNvPr id="209" name="Picture 209" descr="European fastener market (EUR bn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048" y="2205600"/>
            <a:ext cx="6663538" cy="3594534"/>
          </a:xfrm>
          <a:prstGeom prst="rect">
            <a:avLst/>
          </a:prstGeom>
        </p:spPr>
      </p:pic>
      <p:sp>
        <p:nvSpPr>
          <p:cNvPr id="210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Fictional audit fixture</a:t>
            </a:r>
          </a:p>
        </p:txBody>
      </p:sp>
      <p:sp>
        <p:nvSpPr>
          <p:cNvPr id="211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2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>
            <a:off x="841248" y="5258414"/>
            <a:ext cx="1751479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2023</a:t>
            </a:r>
          </a:p>
        </p:txBody>
      </p:sp>
      <p:sp>
        <p:nvSpPr>
          <p:cNvPr id="207" name="Shape 207"/>
          <p:cNvSpPr/>
          <p:nvPr/>
        </p:nvSpPr>
        <p:spPr>
          <a:xfrm>
            <a:off x="2592854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Price</a:t>
            </a:r>
          </a:p>
        </p:txBody>
      </p:sp>
      <p:sp>
        <p:nvSpPr>
          <p:cNvPr id="208" name="Shape 208"/>
          <p:cNvSpPr/>
          <p:nvPr/>
        </p:nvSpPr>
        <p:spPr>
          <a:xfrm>
            <a:off x="4344459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Volume</a:t>
            </a:r>
          </a:p>
        </p:txBody>
      </p:sp>
      <p:sp>
        <p:nvSpPr>
          <p:cNvPr id="209" name="Shape 209"/>
          <p:cNvSpPr/>
          <p:nvPr/>
        </p:nvSpPr>
        <p:spPr>
          <a:xfrm>
            <a:off x="6096064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Materials</a:t>
            </a:r>
          </a:p>
        </p:txBody>
      </p:sp>
      <p:sp>
        <p:nvSpPr>
          <p:cNvPr id="210" name="Shape 210"/>
          <p:cNvSpPr/>
          <p:nvPr/>
        </p:nvSpPr>
        <p:spPr>
          <a:xfrm>
            <a:off x="7847669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OpEx</a:t>
            </a:r>
          </a:p>
        </p:txBody>
      </p:sp>
      <p:sp>
        <p:nvSpPr>
          <p:cNvPr id="211" name="Shape 211"/>
          <p:cNvSpPr/>
          <p:nvPr/>
        </p:nvSpPr>
        <p:spPr>
          <a:xfrm>
            <a:off x="9599274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2025</a:t>
            </a:r>
          </a:p>
        </p:txBody>
      </p:sp>
      <p:sp>
        <p:nvSpPr>
          <p:cNvPr id="212" name="Shape 212"/>
          <p:cNvSpPr/>
          <p:nvPr/>
        </p:nvSpPr>
        <p:spPr>
          <a:xfrm>
            <a:off x="892048" y="1900800"/>
            <a:ext cx="1649879" cy="1146633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€24m</a:t>
            </a:r>
          </a:p>
        </p:txBody>
      </p:sp>
      <p:sp>
        <p:nvSpPr>
          <p:cNvPr id="213" name="Shape 213"/>
          <p:cNvSpPr/>
          <p:nvPr/>
        </p:nvSpPr>
        <p:spPr>
          <a:xfrm>
            <a:off x="1007649" y="3047560"/>
            <a:ext cx="1534278" cy="9119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14" name="Shape 214"/>
          <p:cNvSpPr/>
          <p:nvPr/>
        </p:nvSpPr>
        <p:spPr>
          <a:xfrm>
            <a:off x="1007649" y="3056806"/>
            <a:ext cx="1418677" cy="2100008"/>
          </a:xfrm>
          <a:prstGeom prst="rect">
            <a:avLst/>
          </a:prstGeom>
          <a:solidFill>
            <a:schemeClr val="dk1">
              <a:lumMod val="38000"/>
              <a:lumOff val="62000"/>
            </a:schemeClr>
          </a:solidFill>
        </p:spPr>
        <p:txBody>
          <a:bodyPr/>
          <a:lstStyle/>
          <a:p/>
        </p:txBody>
      </p:sp>
      <p:sp>
        <p:nvSpPr>
          <p:cNvPr id="215" name="Shape 215"/>
          <p:cNvSpPr/>
          <p:nvPr/>
        </p:nvSpPr>
        <p:spPr>
          <a:xfrm>
            <a:off x="2643654" y="1900800"/>
            <a:ext cx="1649878" cy="57783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80000" rIns="180000" bIns="180000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+€6.5m</a:t>
            </a:r>
          </a:p>
        </p:txBody>
      </p:sp>
      <p:sp>
        <p:nvSpPr>
          <p:cNvPr id="216" name="Shape 216"/>
          <p:cNvSpPr/>
          <p:nvPr/>
        </p:nvSpPr>
        <p:spPr>
          <a:xfrm>
            <a:off x="2759255" y="2478763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17" name="Shape 217"/>
          <p:cNvSpPr/>
          <p:nvPr/>
        </p:nvSpPr>
        <p:spPr>
          <a:xfrm>
            <a:off x="2759255" y="2488008"/>
            <a:ext cx="1418676" cy="568708"/>
          </a:xfrm>
          <a:prstGeom prst="rect">
            <a:avLst/>
          </a:prstGeom>
          <a:solidFill>
            <a:schemeClr val="dk2"/>
          </a:solidFill>
        </p:spPr>
        <p:txBody>
          <a:bodyPr/>
          <a:lstStyle/>
          <a:p/>
        </p:txBody>
      </p:sp>
      <p:sp>
        <p:nvSpPr>
          <p:cNvPr id="218" name="Shape 218"/>
          <p:cNvSpPr/>
          <p:nvPr/>
        </p:nvSpPr>
        <p:spPr>
          <a:xfrm>
            <a:off x="2643654" y="3056843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19" name="Shape 219"/>
          <p:cNvSpPr/>
          <p:nvPr/>
        </p:nvSpPr>
        <p:spPr>
          <a:xfrm>
            <a:off x="2643654" y="3066088"/>
            <a:ext cx="1649878" cy="209072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20" name="Shape 220"/>
          <p:cNvSpPr/>
          <p:nvPr/>
        </p:nvSpPr>
        <p:spPr>
          <a:xfrm>
            <a:off x="4395259" y="1900800"/>
            <a:ext cx="1649878" cy="297857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49868" rIns="180000" bIns="49869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+€3.2m</a:t>
            </a:r>
          </a:p>
        </p:txBody>
      </p:sp>
      <p:sp>
        <p:nvSpPr>
          <p:cNvPr id="221" name="Shape 221"/>
          <p:cNvSpPr/>
          <p:nvPr/>
        </p:nvSpPr>
        <p:spPr>
          <a:xfrm>
            <a:off x="4510860" y="2198784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2" name="Shape 222"/>
          <p:cNvSpPr/>
          <p:nvPr/>
        </p:nvSpPr>
        <p:spPr>
          <a:xfrm>
            <a:off x="4510860" y="2208029"/>
            <a:ext cx="1418676" cy="279979"/>
          </a:xfrm>
          <a:prstGeom prst="rect">
            <a:avLst/>
          </a:prstGeom>
          <a:solidFill>
            <a:schemeClr val="dk2"/>
          </a:solidFill>
        </p:spPr>
        <p:txBody>
          <a:bodyPr/>
          <a:lstStyle/>
          <a:p/>
        </p:txBody>
      </p:sp>
      <p:sp>
        <p:nvSpPr>
          <p:cNvPr id="223" name="Shape 223"/>
          <p:cNvSpPr/>
          <p:nvPr/>
        </p:nvSpPr>
        <p:spPr>
          <a:xfrm>
            <a:off x="4395259" y="2488135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4" name="Shape 224"/>
          <p:cNvSpPr/>
          <p:nvPr/>
        </p:nvSpPr>
        <p:spPr>
          <a:xfrm>
            <a:off x="4395259" y="2497380"/>
            <a:ext cx="1649878" cy="265943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25" name="Shape 225"/>
          <p:cNvSpPr/>
          <p:nvPr/>
        </p:nvSpPr>
        <p:spPr>
          <a:xfrm>
            <a:off x="6146864" y="1900800"/>
            <a:ext cx="1649878" cy="297857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26" name="Shape 226"/>
          <p:cNvSpPr/>
          <p:nvPr/>
        </p:nvSpPr>
        <p:spPr>
          <a:xfrm>
            <a:off x="6146864" y="2198784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7" name="Shape 227"/>
          <p:cNvSpPr/>
          <p:nvPr/>
        </p:nvSpPr>
        <p:spPr>
          <a:xfrm>
            <a:off x="6262465" y="2208029"/>
            <a:ext cx="1418676" cy="358723"/>
          </a:xfrm>
          <a:prstGeom prst="rect">
            <a:avLst/>
          </a:prstGeom>
          <a:solidFill>
            <a:schemeClr val="dk2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8" name="Shape 228"/>
          <p:cNvSpPr/>
          <p:nvPr/>
        </p:nvSpPr>
        <p:spPr>
          <a:xfrm>
            <a:off x="6262465" y="2566879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9" name="Shape 229"/>
          <p:cNvSpPr/>
          <p:nvPr/>
        </p:nvSpPr>
        <p:spPr>
          <a:xfrm>
            <a:off x="6146864" y="2576124"/>
            <a:ext cx="1649878" cy="258069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t" lIns="180000" tIns="180000" rIns="180000" bIns="180000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−€4.1m</a:t>
            </a:r>
          </a:p>
        </p:txBody>
      </p:sp>
      <p:sp>
        <p:nvSpPr>
          <p:cNvPr id="230" name="Shape 230"/>
          <p:cNvSpPr/>
          <p:nvPr/>
        </p:nvSpPr>
        <p:spPr>
          <a:xfrm>
            <a:off x="7898469" y="1900800"/>
            <a:ext cx="1649878" cy="53409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67985" rIns="180000" bIns="167985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+€1.4m</a:t>
            </a:r>
          </a:p>
        </p:txBody>
      </p:sp>
      <p:sp>
        <p:nvSpPr>
          <p:cNvPr id="231" name="Shape 231"/>
          <p:cNvSpPr/>
          <p:nvPr/>
        </p:nvSpPr>
        <p:spPr>
          <a:xfrm>
            <a:off x="8014070" y="2435017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32" name="Shape 232"/>
          <p:cNvSpPr/>
          <p:nvPr/>
        </p:nvSpPr>
        <p:spPr>
          <a:xfrm>
            <a:off x="8014070" y="2444262"/>
            <a:ext cx="1418676" cy="122491"/>
          </a:xfrm>
          <a:prstGeom prst="rect">
            <a:avLst/>
          </a:prstGeom>
          <a:solidFill>
            <a:schemeClr val="dk2"/>
          </a:solidFill>
        </p:spPr>
        <p:txBody>
          <a:bodyPr/>
          <a:lstStyle/>
          <a:p/>
        </p:txBody>
      </p:sp>
      <p:sp>
        <p:nvSpPr>
          <p:cNvPr id="233" name="Shape 233"/>
          <p:cNvSpPr/>
          <p:nvPr/>
        </p:nvSpPr>
        <p:spPr>
          <a:xfrm>
            <a:off x="7898469" y="2566880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34" name="Shape 234"/>
          <p:cNvSpPr/>
          <p:nvPr/>
        </p:nvSpPr>
        <p:spPr>
          <a:xfrm>
            <a:off x="7898469" y="2576125"/>
            <a:ext cx="1649878" cy="2580689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35" name="Shape 235"/>
          <p:cNvSpPr/>
          <p:nvPr/>
        </p:nvSpPr>
        <p:spPr>
          <a:xfrm>
            <a:off x="9650074" y="1900800"/>
            <a:ext cx="1649878" cy="534131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68005" rIns="180000" bIns="168006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€31m</a:t>
            </a:r>
          </a:p>
        </p:txBody>
      </p:sp>
      <p:sp>
        <p:nvSpPr>
          <p:cNvPr id="236" name="Shape 236"/>
          <p:cNvSpPr/>
          <p:nvPr/>
        </p:nvSpPr>
        <p:spPr>
          <a:xfrm>
            <a:off x="9650074" y="2435058"/>
            <a:ext cx="1534277" cy="9119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37" name="Shape 237"/>
          <p:cNvSpPr/>
          <p:nvPr/>
        </p:nvSpPr>
        <p:spPr>
          <a:xfrm>
            <a:off x="9765675" y="2444304"/>
            <a:ext cx="1418676" cy="2712510"/>
          </a:xfrm>
          <a:prstGeom prst="rect">
            <a:avLst/>
          </a:prstGeom>
          <a:solidFill>
            <a:schemeClr val="dk1">
              <a:lumMod val="38000"/>
              <a:lumOff val="62000"/>
            </a:schemeClr>
          </a:solidFill>
        </p:spPr>
        <p:txBody>
          <a:bodyPr/>
          <a:lstStyle/>
          <a:p/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Price explains most of the </a:t>
            </a:r>
            <a:r>
              <a:rPr lang="en-GB" cap="none"/>
              <a:t>€7m</a:t>
            </a:r>
            <a:r>
              <a:rPr lang="en-GB"/>
              <a:t> EBITDA gain</a:t>
            </a:r>
          </a:p>
        </p:txBody>
      </p:sp>
      <p:sp>
        <p:nvSpPr>
          <p:cNvPr id="238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Fictional audit fixture</a:t>
            </a:r>
          </a:p>
        </p:txBody>
      </p:sp>
      <p:sp>
        <p:nvSpPr>
          <p:cNvPr id="239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40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1850000"/>
            <a:ext cx="5203952" cy="71628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lt1"/>
                </a:solidFill>
                <a:latin typeface="+mn-lt"/>
              </a:rPr>
              <a:t>Scope B</a:t>
            </a:r>
          </a:p>
        </p:txBody>
      </p:sp>
      <p:sp>
        <p:nvSpPr>
          <p:cNvPr id="201" name="Shape 201"/>
          <p:cNvSpPr/>
          <p:nvPr/>
        </p:nvSpPr>
        <p:spPr>
          <a:xfrm>
            <a:off x="6146800" y="1850000"/>
            <a:ext cx="5203952" cy="7162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dk1"/>
                </a:solidFill>
                <a:latin typeface="+mn-lt"/>
              </a:rPr>
              <a:t>Scope C</a:t>
            </a:r>
          </a:p>
        </p:txBody>
      </p:sp>
      <p:sp>
        <p:nvSpPr>
          <p:cNvPr id="202" name="Shape 202"/>
          <p:cNvSpPr/>
          <p:nvPr/>
        </p:nvSpPr>
        <p:spPr>
          <a:xfrm>
            <a:off x="841248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6146800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2585584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25 customer interviews</a:t>
            </a:r>
          </a:p>
        </p:txBody>
      </p:sp>
      <p:sp>
        <p:nvSpPr>
          <p:cNvPr id="205" name="Shape 205"/>
          <p:cNvSpPr/>
          <p:nvPr/>
        </p:nvSpPr>
        <p:spPr>
          <a:xfrm>
            <a:off x="6146800" y="2585584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25 interviews plus survey</a:t>
            </a:r>
          </a:p>
        </p:txBody>
      </p:sp>
      <p:sp>
        <p:nvSpPr>
          <p:cNvPr id="206" name="Shape 206"/>
          <p:cNvSpPr/>
          <p:nvPr/>
        </p:nvSpPr>
        <p:spPr>
          <a:xfrm>
            <a:off x="841248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7" name="Shape 207"/>
          <p:cNvSpPr/>
          <p:nvPr/>
        </p:nvSpPr>
        <p:spPr>
          <a:xfrm>
            <a:off x="6146800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8" name="Shape 208"/>
          <p:cNvSpPr/>
          <p:nvPr/>
        </p:nvSpPr>
        <p:spPr>
          <a:xfrm>
            <a:off x="841248" y="3260843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€320k fee</a:t>
            </a:r>
          </a:p>
        </p:txBody>
      </p:sp>
      <p:sp>
        <p:nvSpPr>
          <p:cNvPr id="209" name="Shape 209"/>
          <p:cNvSpPr/>
          <p:nvPr/>
        </p:nvSpPr>
        <p:spPr>
          <a:xfrm>
            <a:off x="6146800" y="3260843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€410k fee</a:t>
            </a:r>
          </a:p>
        </p:txBody>
      </p:sp>
      <p:sp>
        <p:nvSpPr>
          <p:cNvPr id="210" name="Shape 210"/>
          <p:cNvSpPr/>
          <p:nvPr/>
        </p:nvSpPr>
        <p:spPr>
          <a:xfrm>
            <a:off x="841248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6146800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2" name="Shape 212"/>
          <p:cNvSpPr/>
          <p:nvPr/>
        </p:nvSpPr>
        <p:spPr>
          <a:xfrm>
            <a:off x="841248" y="3936102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4 weeks</a:t>
            </a:r>
          </a:p>
        </p:txBody>
      </p:sp>
      <p:sp>
        <p:nvSpPr>
          <p:cNvPr id="213" name="Shape 213"/>
          <p:cNvSpPr/>
          <p:nvPr/>
        </p:nvSpPr>
        <p:spPr>
          <a:xfrm>
            <a:off x="6146800" y="3936102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5 weeks</a:t>
            </a:r>
          </a:p>
        </p:txBody>
      </p:sp>
      <p:sp>
        <p:nvSpPr>
          <p:cNvPr id="214" name="Shape 214"/>
          <p:cNvSpPr/>
          <p:nvPr/>
        </p:nvSpPr>
        <p:spPr>
          <a:xfrm>
            <a:off x="841248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5" name="Shape 215"/>
          <p:cNvSpPr/>
          <p:nvPr/>
        </p:nvSpPr>
        <p:spPr>
          <a:xfrm>
            <a:off x="6146800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6" name="Shape 216"/>
          <p:cNvSpPr/>
          <p:nvPr/>
        </p:nvSpPr>
        <p:spPr>
          <a:xfrm>
            <a:off x="841248" y="4611361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Tests price risk before bid</a:t>
            </a:r>
          </a:p>
        </p:txBody>
      </p:sp>
      <p:sp>
        <p:nvSpPr>
          <p:cNvPr id="217" name="Shape 217"/>
          <p:cNvSpPr/>
          <p:nvPr/>
        </p:nvSpPr>
        <p:spPr>
          <a:xfrm>
            <a:off x="6146800" y="4611361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Adds channel evidence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tests price risk for </a:t>
            </a:r>
            <a:r>
              <a:rPr lang="en-GB" cap="none"/>
              <a:t>€320k</a:t>
            </a:r>
          </a:p>
        </p:txBody>
      </p:sp>
      <p:sp>
        <p:nvSpPr>
          <p:cNvPr id="218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9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" descr="Scope B costs €320k across eight activities"/>
          <p:cNvGraphicFramePr>
            <a:graphicFrameLocks noGrp="1"/>
          </p:cNvGraphicFramePr>
          <p:nvPr/>
        </p:nvGraphicFramePr>
        <p:xfrm>
          <a:off x="841248" y="1850000"/>
          <a:ext cx="10509504" cy="3337560"/>
        </p:xfrm>
        <a:graphic>
          <a:graphicData uri="http://schemas.openxmlformats.org/drawingml/2006/table">
            <a:tbl>
              <a:tblPr firstRow="1" bandRow="0">
                <a:tblBorders>
                  <a:top>
                    <a:ln w="0">
                      <a:noFill/>
                    </a:ln>
                  </a:top>
                  <a:bottom>
                    <a:ln w="0">
                      <a:noFill/>
                    </a:ln>
                  </a:bottom>
                  <a:left>
                    <a:ln w="0">
                      <a:noFill/>
                    </a:ln>
                  </a:left>
                  <a:right>
                    <a:ln w="0">
                      <a:noFill/>
                    </a:ln>
                  </a:right>
                  <a:insideH>
                    <a:ln w="0">
                      <a:noFill/>
                    </a:ln>
                  </a:insideH>
                  <a:insideV>
                    <a:ln w="0">
                      <a:noFill/>
                    </a:ln>
                  </a:insideV>
                </a:tblBorders>
                <a:tableStyleId>{5C22544A-7EE6-4342-B048-85BDC9FD1C3A}</a:tableStyleId>
              </a:tblPr>
              <a:tblGrid>
                <a:gridCol w="3503168"/>
                <a:gridCol w="3503168"/>
                <a:gridCol w="3503168"/>
              </a:tblGrid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Days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Fee (€k)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Data room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>
                      <a:solidFill>
                        <a:schemeClr val="tx1"/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>
                      <a:solidFill>
                        <a:schemeClr val="tx1"/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>
                      <a:solidFill>
                        <a:schemeClr val="tx1"/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Market sizing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Competition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Interview design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25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Interviews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14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90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Synthesis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Risk report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IC pack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costs </a:t>
            </a:r>
            <a:r>
              <a:rPr lang="en-GB" cap="none"/>
              <a:t>€320k</a:t>
            </a:r>
            <a:r>
              <a:rPr lang="en-GB"/>
              <a:t> across eight activities</a:t>
            </a:r>
          </a:p>
        </p:txBody>
      </p:sp>
      <p:sp>
        <p:nvSpPr>
          <p:cNvPr id="5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Fictional audit fixture</a:t>
            </a:r>
          </a:p>
        </p:txBody>
      </p:sp>
      <p:sp>
        <p:nvSpPr>
          <p:cNvPr id="6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7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1850000"/>
            <a:ext cx="2589276" cy="635000"/>
          </a:xfrm>
          <a:prstGeom prst="homePlate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Market model</a:t>
            </a:r>
          </a:p>
        </p:txBody>
      </p:sp>
      <p:sp>
        <p:nvSpPr>
          <p:cNvPr id="201" name="Shape 201"/>
          <p:cNvSpPr/>
          <p:nvPr/>
        </p:nvSpPr>
        <p:spPr>
          <a:xfrm>
            <a:off x="3278124" y="1850000"/>
            <a:ext cx="2792476" cy="635000"/>
          </a:xfrm>
          <a:prstGeom prst="chevron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Interviews</a:t>
            </a:r>
          </a:p>
        </p:txBody>
      </p:sp>
      <p:sp>
        <p:nvSpPr>
          <p:cNvPr id="202" name="Shape 202"/>
          <p:cNvSpPr/>
          <p:nvPr/>
        </p:nvSpPr>
        <p:spPr>
          <a:xfrm>
            <a:off x="5918200" y="1850000"/>
            <a:ext cx="2792476" cy="635000"/>
          </a:xfrm>
          <a:prstGeom prst="chevron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Synthesis</a:t>
            </a:r>
          </a:p>
        </p:txBody>
      </p:sp>
      <p:sp>
        <p:nvSpPr>
          <p:cNvPr id="203" name="Shape 203"/>
          <p:cNvSpPr/>
          <p:nvPr/>
        </p:nvSpPr>
        <p:spPr>
          <a:xfrm>
            <a:off x="8558276" y="1850000"/>
            <a:ext cx="2792476" cy="635000"/>
          </a:xfrm>
          <a:prstGeom prst="chevron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IC pack</a:t>
            </a:r>
          </a:p>
        </p:txBody>
      </p:sp>
      <p:sp>
        <p:nvSpPr>
          <p:cNvPr id="204" name="Shape 204"/>
          <p:cNvSpPr/>
          <p:nvPr/>
        </p:nvSpPr>
        <p:spPr>
          <a:xfrm>
            <a:off x="841248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1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Data room and market sizing</a:t>
            </a:r>
          </a:p>
        </p:txBody>
      </p:sp>
      <p:sp>
        <p:nvSpPr>
          <p:cNvPr id="205" name="Shape 205"/>
          <p:cNvSpPr/>
          <p:nvPr/>
        </p:nvSpPr>
        <p:spPr>
          <a:xfrm>
            <a:off x="3481324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2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25 customers</a:t>
            </a:r>
          </a:p>
        </p:txBody>
      </p:sp>
      <p:sp>
        <p:nvSpPr>
          <p:cNvPr id="206" name="Shape 206"/>
          <p:cNvSpPr/>
          <p:nvPr/>
        </p:nvSpPr>
        <p:spPr>
          <a:xfrm>
            <a:off x="6121400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3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Price and volume risks</a:t>
            </a:r>
          </a:p>
        </p:txBody>
      </p:sp>
      <p:sp>
        <p:nvSpPr>
          <p:cNvPr id="207" name="Shape 207"/>
          <p:cNvSpPr/>
          <p:nvPr/>
        </p:nvSpPr>
        <p:spPr>
          <a:xfrm>
            <a:off x="8761476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4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Red flags and bid implications</a:t>
            </a:r>
          </a:p>
        </p:txBody>
      </p:sp>
      <p:sp>
        <p:nvSpPr>
          <p:cNvPr id="209" name="Shape 209"/>
          <p:cNvSpPr/>
          <p:nvPr/>
        </p:nvSpPr>
        <p:spPr>
          <a:xfrm>
            <a:off x="892048" y="4948799"/>
            <a:ext cx="1449995" cy="368300"/>
          </a:xfrm>
          <a:prstGeom prst="rect">
            <a:avLst/>
          </a:prstGeom>
          <a:noFill/>
        </p:spPr>
        <p:txBody>
          <a:bodyPr wrap="square" anchor="ctr" lIns="129200" tIns="85090" rIns="180000" bIns="85090">
            <a:normAutofit/>
          </a:bodyPr>
          <a:lstStyle/>
          <a:p>
            <a:pPr algn="l"/>
            <a:r>
              <a:rPr sz="1200" b="1">
                <a:solidFill>
                  <a:schemeClr val="dk2"/>
                </a:solidFill>
                <a:latin typeface="+mn-lt"/>
              </a:rPr>
              <a:t>In parallel</a:t>
            </a:r>
          </a:p>
        </p:txBody>
      </p:sp>
      <p:sp>
        <p:nvSpPr>
          <p:cNvPr id="210" name="Shape 210"/>
          <p:cNvSpPr/>
          <p:nvPr/>
        </p:nvSpPr>
        <p:spPr>
          <a:xfrm>
            <a:off x="2392843" y="4948799"/>
            <a:ext cx="8907109" cy="368300"/>
          </a:xfrm>
          <a:prstGeom prst="homePlate">
            <a:avLst>
              <a:gd name="adj" fmla="val 34483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85090" rIns="180000" bIns="85090">
            <a:normAutofit/>
          </a:bodyPr>
          <a:lstStyle/>
          <a:p>
            <a:pPr algn="l"/>
            <a:r>
              <a:rPr sz="1200">
                <a:solidFill>
                  <a:schemeClr val="dk2"/>
                </a:solidFill>
                <a:latin typeface="+mn-lt"/>
              </a:rPr>
              <a:t>Weekly partner review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The investment committee pack arrives in week 4</a:t>
            </a:r>
          </a:p>
        </p:txBody>
      </p:sp>
      <p:sp>
        <p:nvSpPr>
          <p:cNvPr id="211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2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1579098" y="2444302"/>
            <a:ext cx="5882477" cy="554343"/>
          </a:xfrm>
          <a:prstGeom prst="rect">
            <a:avLst/>
          </a:prstGeom>
          <a:noFill/>
          <a:ln w="12700">
            <a:noFill/>
          </a:ln>
        </p:spPr>
        <p:txBody>
          <a:bodyPr wrap="square" anchor="b" lIns="180000" tIns="178111" rIns="180000" bIns="178112">
            <a:normAutofit/>
          </a:bodyPr>
          <a:lstStyle/>
          <a:p>
            <a:pPr algn="l"/>
            <a:r>
              <a:rPr sz="1200" b="1">
                <a:solidFill>
                  <a:schemeClr val="dk1">
                    <a:alpha val="60000"/>
                  </a:schemeClr>
                </a:solidFill>
                <a:latin typeface="+mn-lt"/>
              </a:rPr>
              <a:t>Action</a:t>
            </a:r>
          </a:p>
        </p:txBody>
      </p:sp>
      <p:sp>
        <p:nvSpPr>
          <p:cNvPr id="201" name="Shape 201"/>
          <p:cNvSpPr/>
          <p:nvPr/>
        </p:nvSpPr>
        <p:spPr>
          <a:xfrm>
            <a:off x="7462845" y="2444302"/>
            <a:ext cx="2310973" cy="554343"/>
          </a:xfrm>
          <a:prstGeom prst="rect">
            <a:avLst/>
          </a:prstGeom>
          <a:noFill/>
          <a:ln w="12700">
            <a:noFill/>
          </a:ln>
        </p:spPr>
        <p:txBody>
          <a:bodyPr wrap="square" anchor="b" lIns="180000" tIns="178111" rIns="180000" bIns="178112">
            <a:normAutofit/>
          </a:bodyPr>
          <a:lstStyle/>
          <a:p>
            <a:pPr algn="l"/>
            <a:r>
              <a:rPr sz="1200" b="1">
                <a:solidFill>
                  <a:schemeClr val="dk1">
                    <a:alpha val="60000"/>
                  </a:schemeClr>
                </a:solidFill>
                <a:latin typeface="+mn-lt"/>
              </a:rPr>
              <a:t>Owner</a:t>
            </a:r>
          </a:p>
        </p:txBody>
      </p:sp>
      <p:sp>
        <p:nvSpPr>
          <p:cNvPr id="202" name="Shape 202"/>
          <p:cNvSpPr/>
          <p:nvPr/>
        </p:nvSpPr>
        <p:spPr>
          <a:xfrm>
            <a:off x="9775088" y="2444302"/>
            <a:ext cx="1575664" cy="554343"/>
          </a:xfrm>
          <a:prstGeom prst="rect">
            <a:avLst/>
          </a:prstGeom>
          <a:noFill/>
          <a:ln w="12700">
            <a:noFill/>
          </a:ln>
        </p:spPr>
        <p:txBody>
          <a:bodyPr wrap="square" anchor="b" lIns="180000" tIns="178111" rIns="180000" bIns="178112">
            <a:normAutofit/>
          </a:bodyPr>
          <a:lstStyle/>
          <a:p>
            <a:pPr algn="l"/>
            <a:r>
              <a:rPr sz="1200" b="1">
                <a:solidFill>
                  <a:schemeClr val="dk1">
                    <a:alpha val="60000"/>
                  </a:schemeClr>
                </a:solidFill>
                <a:latin typeface="+mn-lt"/>
              </a:rPr>
              <a:t>Date</a:t>
            </a:r>
          </a:p>
        </p:txBody>
      </p:sp>
      <p:sp>
        <p:nvSpPr>
          <p:cNvPr id="203" name="Shape 203"/>
          <p:cNvSpPr/>
          <p:nvPr/>
        </p:nvSpPr>
        <p:spPr>
          <a:xfrm>
            <a:off x="841248" y="3024428"/>
            <a:ext cx="10509504" cy="6350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3056561"/>
            <a:ext cx="736580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tIns="173702" rIns="180000" bIns="173703">
            <a:normAutofit/>
          </a:bodyPr>
          <a:lstStyle/>
          <a:p>
            <a:pPr algn="l"/>
            <a:r>
              <a:rPr sz="1800">
                <a:solidFill>
                  <a:schemeClr val="dk2"/>
                </a:solidFill>
                <a:latin typeface="+mj-lt"/>
              </a:rPr>
              <a:t>01</a:t>
            </a:r>
          </a:p>
        </p:txBody>
      </p:sp>
      <p:sp>
        <p:nvSpPr>
          <p:cNvPr id="205" name="Shape 205"/>
          <p:cNvSpPr/>
          <p:nvPr/>
        </p:nvSpPr>
        <p:spPr>
          <a:xfrm>
            <a:off x="1579098" y="3056561"/>
            <a:ext cx="5882477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Confirm scope B</a:t>
            </a:r>
          </a:p>
        </p:txBody>
      </p:sp>
      <p:sp>
        <p:nvSpPr>
          <p:cNvPr id="206" name="Shape 206"/>
          <p:cNvSpPr/>
          <p:nvPr/>
        </p:nvSpPr>
        <p:spPr>
          <a:xfrm>
            <a:off x="7462845" y="3056561"/>
            <a:ext cx="2310973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CFO</a:t>
            </a:r>
          </a:p>
        </p:txBody>
      </p:sp>
      <p:sp>
        <p:nvSpPr>
          <p:cNvPr id="207" name="Shape 207"/>
          <p:cNvSpPr/>
          <p:nvPr/>
        </p:nvSpPr>
        <p:spPr>
          <a:xfrm>
            <a:off x="9775088" y="3056561"/>
            <a:ext cx="1575664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+mn-lt"/>
              </a:rPr>
              <a:t>9 Oct 2026</a:t>
            </a:r>
          </a:p>
        </p:txBody>
      </p:sp>
      <p:sp>
        <p:nvSpPr>
          <p:cNvPr id="208" name="Shape 208"/>
          <p:cNvSpPr/>
          <p:nvPr/>
        </p:nvSpPr>
        <p:spPr>
          <a:xfrm>
            <a:off x="841248" y="3726929"/>
            <a:ext cx="10509504" cy="6350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9" name="Shape 209"/>
          <p:cNvSpPr/>
          <p:nvPr/>
        </p:nvSpPr>
        <p:spPr>
          <a:xfrm>
            <a:off x="841248" y="3759062"/>
            <a:ext cx="736580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tIns="173702" rIns="180000" bIns="173703">
            <a:normAutofit/>
          </a:bodyPr>
          <a:lstStyle/>
          <a:p>
            <a:pPr algn="l"/>
            <a:r>
              <a:rPr sz="1800">
                <a:solidFill>
                  <a:schemeClr val="dk2"/>
                </a:solidFill>
                <a:latin typeface="+mj-lt"/>
              </a:rPr>
              <a:t>02</a:t>
            </a:r>
          </a:p>
        </p:txBody>
      </p:sp>
      <p:sp>
        <p:nvSpPr>
          <p:cNvPr id="210" name="Shape 210"/>
          <p:cNvSpPr/>
          <p:nvPr/>
        </p:nvSpPr>
        <p:spPr>
          <a:xfrm>
            <a:off x="1579098" y="3759062"/>
            <a:ext cx="5882477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Sign engagement letter</a:t>
            </a:r>
          </a:p>
        </p:txBody>
      </p:sp>
      <p:sp>
        <p:nvSpPr>
          <p:cNvPr id="211" name="Shape 211"/>
          <p:cNvSpPr/>
          <p:nvPr/>
        </p:nvSpPr>
        <p:spPr>
          <a:xfrm>
            <a:off x="7462845" y="3759062"/>
            <a:ext cx="2310973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Partner</a:t>
            </a:r>
          </a:p>
        </p:txBody>
      </p:sp>
      <p:sp>
        <p:nvSpPr>
          <p:cNvPr id="212" name="Shape 212"/>
          <p:cNvSpPr/>
          <p:nvPr/>
        </p:nvSpPr>
        <p:spPr>
          <a:xfrm>
            <a:off x="9775088" y="3759062"/>
            <a:ext cx="1575664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+mn-lt"/>
              </a:rPr>
              <a:t>12 Oct 2026</a:t>
            </a:r>
          </a:p>
        </p:txBody>
      </p:sp>
      <p:sp>
        <p:nvSpPr>
          <p:cNvPr id="213" name="Shape 213"/>
          <p:cNvSpPr/>
          <p:nvPr/>
        </p:nvSpPr>
        <p:spPr>
          <a:xfrm>
            <a:off x="841248" y="4635696"/>
            <a:ext cx="37816" cy="889527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4" name="Shape 214"/>
          <p:cNvSpPr/>
          <p:nvPr/>
        </p:nvSpPr>
        <p:spPr>
          <a:xfrm>
            <a:off x="880334" y="4635696"/>
            <a:ext cx="10470418" cy="889527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524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chemeClr val="dk2"/>
                </a:solidFill>
                <a:latin typeface="+mn-lt"/>
              </a:rPr>
              <a:t>Decisions requested</a:t>
            </a:r>
          </a:p>
          <a:p>
            <a:pPr algn="l" marL="115570" indent="-115570">
              <a:spcAft>
                <a:spcPts val="200"/>
              </a:spcAft>
              <a:buFont typeface="Arial"/>
              <a:buChar char="•"/>
            </a:pPr>
            <a:r>
              <a:rPr sz="1400" b="1">
                <a:solidFill>
                  <a:schemeClr val="dk1"/>
                </a:solidFill>
                <a:latin typeface="+mn-lt"/>
              </a:rPr>
              <a:t>Approve the €320k scope B fee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Approval starts the four-week diligence</a:t>
            </a:r>
          </a:p>
        </p:txBody>
      </p:sp>
      <p:sp>
        <p:nvSpPr>
          <p:cNvPr id="215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6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50</Words>
  <Application>Microsoft Macintosh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Custom</vt:lpstr>
      <vt:lpstr>Q4 MARKET ANALYSIS </vt:lpstr>
      <vt:lpstr>NAVIGATE THE FUTURE  </vt:lpstr>
      <vt:lpstr>CURRENT MARKET ANALYSIS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1</cp:revision>
  <dcterms:created xsi:type="dcterms:W3CDTF">2026-05-20T06:55:13Z</dcterms:created>
  <dcterms:modified xsi:type="dcterms:W3CDTF">2026-05-20T06:58:27Z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