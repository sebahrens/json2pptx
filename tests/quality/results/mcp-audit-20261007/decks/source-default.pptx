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/>
    <p:restoredTop sz="94682"/>
  </p:normalViewPr>
  <p:slideViewPr>
    <p:cSldViewPr snapToGrid="0">
      <p:cViewPr varScale="1">
        <p:scale>
          <a:sx n="108" d="100"/>
          <a:sy n="108" d="100"/>
        </p:scale>
        <p:origin x="1056" y="200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?>
<Relationships xmlns="http://schemas.openxmlformats.org/package/2006/relationships"><Relationship Id="rId13" Type="http://schemas.openxmlformats.org/officeDocument/2006/relationships/theme" Target="theme/theme1.xml"></Relationship><Relationship Id="rId3" Type="http://schemas.openxmlformats.org/officeDocument/2006/relationships/customXml" Target="../customXml/item3.xml"></Relationship><Relationship Id="rId12" Type="http://schemas.openxmlformats.org/officeDocument/2006/relationships/viewProps" Target="viewProps.xml"></Relationship><Relationship Id="rId2" Type="http://schemas.openxmlformats.org/officeDocument/2006/relationships/customXml" Target="../customXml/item2.xml"></Relationship><Relationship Id="rId1" Type="http://schemas.openxmlformats.org/officeDocument/2006/relationships/customXml" Target="../customXml/item1.xml"></Relationship><Relationship Id="rId11" Type="http://schemas.openxmlformats.org/officeDocument/2006/relationships/presProps" Target="presProps.xml"></Relationship><Relationship Id="rId10" Type="http://schemas.openxmlformats.org/officeDocument/2006/relationships/handoutMaster" Target="handoutMasters/handoutMaster1.xml"></Relationship><Relationship Id="rId4" Type="http://schemas.openxmlformats.org/officeDocument/2006/relationships/slideMaster" Target="slideMasters/slideMaster1.xml"></Relationship><Relationship Id="rId9" Type="http://schemas.openxmlformats.org/officeDocument/2006/relationships/notesMaster" Target="notesMasters/notesMaster1.xml"></Relationship><Relationship Id="rId14" Type="http://schemas.openxmlformats.org/officeDocument/2006/relationships/tableStyles" Target="tableStyles.xml"></Relationship><Relationship Id="rId15" Type="http://schemas.openxmlformats.org/officeDocument/2006/relationships/slide" Target="slides/slide1.xml"></Relationship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5/20/26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 marL="0" indent="0">
              <a:buNone/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9167149" y="0"/>
            <a:ext cx="3024850" cy="170147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9978" y="9452"/>
            <a:ext cx="1527375" cy="152737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1186679" y="9452"/>
            <a:ext cx="1005321" cy="15273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10479024" cy="4166752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000"/>
            </a:lvl1pPr>
            <a:lvl2pPr>
              <a:lnSpc>
                <a:spcPct val="140000"/>
              </a:lnSpc>
              <a:defRPr sz="2000"/>
            </a:lvl2pPr>
            <a:lvl3pPr>
              <a:lnSpc>
                <a:spcPct val="140000"/>
              </a:lnSpc>
              <a:defRPr sz="1600"/>
            </a:lvl3pPr>
            <a:lvl4pPr>
              <a:lnSpc>
                <a:spcPct val="140000"/>
              </a:lnSpc>
              <a:defRPr sz="1600"/>
            </a:lvl4pPr>
            <a:lvl5pPr>
              <a:lnSpc>
                <a:spcPct val="140000"/>
              </a:lnSpc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841375"/>
            <a:ext cx="6931152" cy="5175377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2CA1527B-3DB0-B164-3B09-C296F0E7D5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29600" y="841375"/>
            <a:ext cx="3600450" cy="5175250"/>
          </a:xfrm>
        </p:spPr>
        <p:txBody>
          <a:bodyPr/>
          <a:lstStyle>
            <a:lvl1pPr>
              <a:buNone/>
              <a:defRPr lang="en-AU" sz="20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##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body"/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  <p:sp>
        <p:nvSpPr>
          <p:cNvPr id="4" name="body_2"/>
          <p:cNvSpPr>
            <a:spLocks noGrp="1"/>
          </p:cNvSpPr>
          <p:nvPr>
            <p:ph type="body" sz="quarter" idx="2"/>
          </p:nvPr>
        </p:nvSpPr>
        <p:spPr>
          <a:xfrm>
            <a:off x="6262497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92A910-0A08-40A7-B860-474129805EAB}"/>
              </a:ext>
            </a:extLst>
          </p:cNvPr>
          <p:cNvSpPr>
            <a:spLocks noGrp="1"/>
          </p:cNvSpPr>
          <p:nvPr>
            <p:ph type="dt" sz="quarter" idx="20"/>
          </p:nvPr>
        </p:nvSpPr>
        <p:spPr>
          <a:xfrm>
            <a:off x="432000" y="6365893"/>
            <a:ext cx="32004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703" r:id="rId4"/>
    <p:sldLayoutId id="2147483704" r:id="rId6"/>
    <p:sldLayoutId id="2147483705" r:id="rId7"/>
    <p:sldLayoutId id="214748370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41248" y="1850000"/>
            <a:ext cx="5203952" cy="71628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800" b="1">
                <a:solidFill>
                  <a:schemeClr val="lt1"/>
                </a:solidFill>
                <a:latin typeface="+mn-lt"/>
              </a:rPr>
              <a:t>Scope B</a:t>
            </a:r>
          </a:p>
        </p:txBody>
      </p:sp>
      <p:sp>
        <p:nvSpPr>
          <p:cNvPr id="201" name="Shape 201"/>
          <p:cNvSpPr/>
          <p:nvPr/>
        </p:nvSpPr>
        <p:spPr>
          <a:xfrm>
            <a:off x="6146800" y="1850000"/>
            <a:ext cx="5203952" cy="7162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800" b="1">
                <a:solidFill>
                  <a:schemeClr val="dk1"/>
                </a:solidFill>
                <a:latin typeface="+mn-lt"/>
              </a:rPr>
              <a:t>Scope C</a:t>
            </a:r>
          </a:p>
        </p:txBody>
      </p:sp>
      <p:sp>
        <p:nvSpPr>
          <p:cNvPr id="202" name="Shape 202"/>
          <p:cNvSpPr/>
          <p:nvPr/>
        </p:nvSpPr>
        <p:spPr>
          <a:xfrm>
            <a:off x="841248" y="2566407"/>
            <a:ext cx="5203952" cy="1905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6146800" y="2566407"/>
            <a:ext cx="5203952" cy="1905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41248" y="2585584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25 customer interviews</a:t>
            </a:r>
          </a:p>
        </p:txBody>
      </p:sp>
      <p:sp>
        <p:nvSpPr>
          <p:cNvPr id="205" name="Shape 205"/>
          <p:cNvSpPr/>
          <p:nvPr/>
        </p:nvSpPr>
        <p:spPr>
          <a:xfrm>
            <a:off x="6146800" y="2585584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25 interviews plus survey</a:t>
            </a:r>
          </a:p>
        </p:txBody>
      </p:sp>
      <p:sp>
        <p:nvSpPr>
          <p:cNvPr id="206" name="Shape 206"/>
          <p:cNvSpPr/>
          <p:nvPr/>
        </p:nvSpPr>
        <p:spPr>
          <a:xfrm>
            <a:off x="841248" y="3251191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7" name="Shape 207"/>
          <p:cNvSpPr/>
          <p:nvPr/>
        </p:nvSpPr>
        <p:spPr>
          <a:xfrm>
            <a:off x="6146800" y="3251191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8" name="Shape 208"/>
          <p:cNvSpPr/>
          <p:nvPr/>
        </p:nvSpPr>
        <p:spPr>
          <a:xfrm>
            <a:off x="841248" y="3260843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€320k fee</a:t>
            </a:r>
          </a:p>
        </p:txBody>
      </p:sp>
      <p:sp>
        <p:nvSpPr>
          <p:cNvPr id="209" name="Shape 209"/>
          <p:cNvSpPr/>
          <p:nvPr/>
        </p:nvSpPr>
        <p:spPr>
          <a:xfrm>
            <a:off x="6146800" y="3260843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€410k fee</a:t>
            </a:r>
          </a:p>
        </p:txBody>
      </p:sp>
      <p:sp>
        <p:nvSpPr>
          <p:cNvPr id="210" name="Shape 210"/>
          <p:cNvSpPr/>
          <p:nvPr/>
        </p:nvSpPr>
        <p:spPr>
          <a:xfrm>
            <a:off x="841248" y="3926450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1" name="Shape 211"/>
          <p:cNvSpPr/>
          <p:nvPr/>
        </p:nvSpPr>
        <p:spPr>
          <a:xfrm>
            <a:off x="6146800" y="3926450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2" name="Shape 212"/>
          <p:cNvSpPr/>
          <p:nvPr/>
        </p:nvSpPr>
        <p:spPr>
          <a:xfrm>
            <a:off x="841248" y="3936102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4 weeks</a:t>
            </a:r>
          </a:p>
        </p:txBody>
      </p:sp>
      <p:sp>
        <p:nvSpPr>
          <p:cNvPr id="213" name="Shape 213"/>
          <p:cNvSpPr/>
          <p:nvPr/>
        </p:nvSpPr>
        <p:spPr>
          <a:xfrm>
            <a:off x="6146800" y="3936102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5 weeks</a:t>
            </a:r>
          </a:p>
        </p:txBody>
      </p:sp>
      <p:sp>
        <p:nvSpPr>
          <p:cNvPr id="214" name="Shape 214"/>
          <p:cNvSpPr/>
          <p:nvPr/>
        </p:nvSpPr>
        <p:spPr>
          <a:xfrm>
            <a:off x="841248" y="4601709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5" name="Shape 215"/>
          <p:cNvSpPr/>
          <p:nvPr/>
        </p:nvSpPr>
        <p:spPr>
          <a:xfrm>
            <a:off x="6146800" y="4601709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6" name="Shape 216"/>
          <p:cNvSpPr/>
          <p:nvPr/>
        </p:nvSpPr>
        <p:spPr>
          <a:xfrm>
            <a:off x="841248" y="4611361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Tests price risk before bid</a:t>
            </a:r>
          </a:p>
        </p:txBody>
      </p:sp>
      <p:sp>
        <p:nvSpPr>
          <p:cNvPr id="217" name="Shape 217"/>
          <p:cNvSpPr/>
          <p:nvPr/>
        </p:nvSpPr>
        <p:spPr>
          <a:xfrm>
            <a:off x="6146800" y="4611361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Adds channel evidence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Scope B tests price risk within four weeks</a:t>
            </a:r>
          </a:p>
        </p:txBody>
      </p:sp>
      <p:sp>
        <p:nvSpPr>
          <p:cNvPr id="218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0</TotalTime>
  <Words>8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Custom</vt:lpstr>
      <vt:lpstr>Q4 MARKET ANALYSIS </vt:lpstr>
      <vt:lpstr>NAVIGATE THE FUTURE  </vt:lpstr>
      <vt:lpstr>CURRENT MARKET ANALYSIS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Ahrens</dc:creator>
  <cp:lastModifiedBy>Sebastian Ahrens</cp:lastModifiedBy>
  <cp:revision>1</cp:revision>
  <dcterms:created xsi:type="dcterms:W3CDTF">2026-05-20T06:55:13Z</dcterms:created>
  <dcterms:modified xsi:type="dcterms:W3CDTF">2026-05-20T06:58:27Z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