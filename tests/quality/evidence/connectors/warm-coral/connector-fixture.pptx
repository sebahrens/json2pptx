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Master" Target="slideMasters/slideMaster1.xml"></Relationship><Relationship Id="rId6" Type="http://schemas.openxmlformats.org/officeDocument/2006/relationships/presProps" Target="presProps.xml"></Relationship><Relationship Id="rId7" Type="http://schemas.openxmlformats.org/officeDocument/2006/relationships/viewProps" Target="viewProps.xml"></Relationship><Relationship Id="rId8" Type="http://schemas.openxmlformats.org/officeDocument/2006/relationships/theme" Target="theme/theme1.xml"></Relationship><Relationship Id="rId9" Type="http://schemas.openxmlformats.org/officeDocument/2006/relationships/tableStyles" Target="tableStyles.xml"></Relationship><Relationship Id="rId10" Type="http://schemas.openxmlformats.org/officeDocument/2006/relationships/slide" Target="slides/slide1.xml"></Relationship><Relationship Id="rId11" Type="http://schemas.openxmlformats.org/officeDocument/2006/relationships/slide" Target="slides/slide2.xml"></Relationship><Relationship Id="rId12" Type="http://schemas.openxmlformats.org/officeDocument/2006/relationships/slide" Target="slides/slide3.xml"></Relationship><Relationship Id="rId13" Type="http://schemas.openxmlformats.org/officeDocument/2006/relationships/slide" Target="slides/slide4.xml"></Relationship><Relationship Id="rId14" Type="http://schemas.openxmlformats.org/officeDocument/2006/relationships/slide" Target="slides/slide5.xml"></Relationship><Relationship Id="rId15" Type="http://schemas.openxmlformats.org/officeDocument/2006/relationships/slide" Target="slides/slide6.xml"></Relationship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1268413"/>
            <a:ext cx="640080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7886700" y="1268413"/>
            <a:ext cx="3182938" cy="3417887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485900" y="685800"/>
            <a:ext cx="9486900" cy="1851025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485900" y="2667000"/>
            <a:ext cx="94869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Top Bar"/>
          <p:cNvSpPr/>
          <p:nvPr/>
        </p:nvSpPr>
        <p:spPr>
          <a:xfrm>
            <a:off x="0" y="0"/>
            <a:ext cx="12192000" cy="352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Connector 214"/>
          <p:cNvCxnSpPr>
            <a:stCxn id="200" idx="3"/>
            <a:endCxn id="201" idx="1"/>
          </p:cNvCxnSpPr>
          <p:nvPr/>
        </p:nvCxnSpPr>
        <p:spPr>
          <a:xfrm flipV="1">
            <a:off x="3039872" y="2278240"/>
            <a:ext cx="254000" cy="1745279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5" name="Connector 215"/>
          <p:cNvCxnSpPr>
            <a:stCxn id="201" idx="3"/>
            <a:endCxn id="202" idx="1"/>
          </p:cNvCxnSpPr>
          <p:nvPr/>
        </p:nvCxnSpPr>
        <p:spPr>
          <a:xfrm flipV="1">
            <a:off x="6096000" y="2028914"/>
            <a:ext cx="254000" cy="24932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6" name="Connector 216"/>
          <p:cNvCxnSpPr>
            <a:stCxn id="201" idx="3"/>
            <a:endCxn id="203" idx="1"/>
          </p:cNvCxnSpPr>
          <p:nvPr/>
        </p:nvCxnSpPr>
        <p:spPr>
          <a:xfrm>
            <a:off x="6096000" y="2278240"/>
            <a:ext cx="254000" cy="24932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7" name="Connector 217"/>
          <p:cNvCxnSpPr>
            <a:stCxn id="200" idx="3"/>
            <a:endCxn id="204" idx="1"/>
          </p:cNvCxnSpPr>
          <p:nvPr/>
        </p:nvCxnSpPr>
        <p:spPr>
          <a:xfrm flipV="1">
            <a:off x="3039872" y="3275543"/>
            <a:ext cx="254000" cy="74797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8" name="Connector 218"/>
          <p:cNvCxnSpPr>
            <a:stCxn id="204" idx="3"/>
            <a:endCxn id="205" idx="1"/>
          </p:cNvCxnSpPr>
          <p:nvPr/>
        </p:nvCxnSpPr>
        <p:spPr>
          <a:xfrm flipV="1">
            <a:off x="6096000" y="3026218"/>
            <a:ext cx="254000" cy="249325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19" name="Connector 219"/>
          <p:cNvCxnSpPr>
            <a:stCxn id="204" idx="3"/>
            <a:endCxn id="206" idx="1"/>
          </p:cNvCxnSpPr>
          <p:nvPr/>
        </p:nvCxnSpPr>
        <p:spPr>
          <a:xfrm>
            <a:off x="6096000" y="3275543"/>
            <a:ext cx="254000" cy="24932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0" name="Connector 220"/>
          <p:cNvCxnSpPr>
            <a:stCxn id="200" idx="3"/>
            <a:endCxn id="207" idx="1"/>
          </p:cNvCxnSpPr>
          <p:nvPr/>
        </p:nvCxnSpPr>
        <p:spPr>
          <a:xfrm>
            <a:off x="3039872" y="4023519"/>
            <a:ext cx="254000" cy="498652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1" name="Connector 221"/>
          <p:cNvCxnSpPr>
            <a:stCxn id="207" idx="3"/>
            <a:endCxn id="208" idx="1"/>
          </p:cNvCxnSpPr>
          <p:nvPr/>
        </p:nvCxnSpPr>
        <p:spPr>
          <a:xfrm flipV="1">
            <a:off x="6096000" y="4023520"/>
            <a:ext cx="254000" cy="498651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2" name="Connector 222"/>
          <p:cNvCxnSpPr>
            <a:stCxn id="207" idx="3"/>
            <a:endCxn id="209" idx="1"/>
          </p:cNvCxnSpPr>
          <p:nvPr/>
        </p:nvCxnSpPr>
        <p:spPr>
          <a:xfrm>
            <a:off x="6096000" y="4522171"/>
            <a:ext cx="254000" cy="1"/>
          </a:xfrm>
          <a:prstGeom prst="straightConnector1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3" name="Connector 223"/>
          <p:cNvCxnSpPr>
            <a:stCxn id="207" idx="3"/>
            <a:endCxn id="210" idx="1"/>
          </p:cNvCxnSpPr>
          <p:nvPr/>
        </p:nvCxnSpPr>
        <p:spPr>
          <a:xfrm>
            <a:off x="6096000" y="4522171"/>
            <a:ext cx="254000" cy="498651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4" name="Connector 224"/>
          <p:cNvCxnSpPr>
            <a:stCxn id="200" idx="3"/>
            <a:endCxn id="211" idx="1"/>
          </p:cNvCxnSpPr>
          <p:nvPr/>
        </p:nvCxnSpPr>
        <p:spPr>
          <a:xfrm>
            <a:off x="3039872" y="4023519"/>
            <a:ext cx="254000" cy="1745280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5" name="Connector 225"/>
          <p:cNvCxnSpPr>
            <a:stCxn id="211" idx="3"/>
            <a:endCxn id="212" idx="1"/>
          </p:cNvCxnSpPr>
          <p:nvPr/>
        </p:nvCxnSpPr>
        <p:spPr>
          <a:xfrm flipV="1">
            <a:off x="6096000" y="5519473"/>
            <a:ext cx="254000" cy="249326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226" name="Connector 226"/>
          <p:cNvCxnSpPr>
            <a:stCxn id="211" idx="3"/>
            <a:endCxn id="213" idx="1"/>
          </p:cNvCxnSpPr>
          <p:nvPr/>
        </p:nvCxnSpPr>
        <p:spPr>
          <a:xfrm>
            <a:off x="6096000" y="5768799"/>
            <a:ext cx="254000" cy="249325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</p:cxnSp>
      <p:sp>
        <p:nvSpPr>
          <p:cNvPr id="200" name="Shape 200"/>
          <p:cNvSpPr/>
          <p:nvPr/>
        </p:nvSpPr>
        <p:spPr>
          <a:xfrm>
            <a:off x="838200" y="1804988"/>
            <a:ext cx="2201672" cy="4437062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chemeClr val="dk1"/>
                </a:solidFill>
                <a:latin typeface="+mn-lt"/>
              </a:rPr>
              <a:t>Total Cost to Serve</a:t>
            </a:r>
          </a:p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($/order)</a:t>
            </a:r>
          </a:p>
        </p:txBody>
      </p:sp>
      <p:sp>
        <p:nvSpPr>
          <p:cNvPr id="201" name="Shape 201"/>
          <p:cNvSpPr/>
          <p:nvPr/>
        </p:nvSpPr>
        <p:spPr>
          <a:xfrm>
            <a:off x="3293872" y="1804988"/>
            <a:ext cx="2802128" cy="946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+mn-lt"/>
              </a:rPr>
              <a:t>Fulfilment</a:t>
            </a:r>
          </a:p>
        </p:txBody>
      </p:sp>
      <p:sp>
        <p:nvSpPr>
          <p:cNvPr id="202" name="Shape 202"/>
          <p:cNvSpPr/>
          <p:nvPr/>
        </p:nvSpPr>
        <p:spPr>
          <a:xfrm>
            <a:off x="6350000" y="1804988"/>
            <a:ext cx="5003800" cy="447852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Pick &amp; pack</a:t>
            </a:r>
          </a:p>
        </p:txBody>
      </p:sp>
      <p:sp>
        <p:nvSpPr>
          <p:cNvPr id="203" name="Shape 203"/>
          <p:cNvSpPr/>
          <p:nvPr/>
        </p:nvSpPr>
        <p:spPr>
          <a:xfrm>
            <a:off x="6350000" y="2303640"/>
            <a:ext cx="5003800" cy="447852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Outbound freight</a:t>
            </a:r>
          </a:p>
        </p:txBody>
      </p:sp>
      <p:sp>
        <p:nvSpPr>
          <p:cNvPr id="204" name="Shape 204"/>
          <p:cNvSpPr/>
          <p:nvPr/>
        </p:nvSpPr>
        <p:spPr>
          <a:xfrm>
            <a:off x="3293872" y="2802292"/>
            <a:ext cx="2802128" cy="9465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+mn-lt"/>
              </a:rPr>
              <a:t>Customer Care</a:t>
            </a:r>
          </a:p>
        </p:txBody>
      </p:sp>
      <p:sp>
        <p:nvSpPr>
          <p:cNvPr id="205" name="Shape 205"/>
          <p:cNvSpPr/>
          <p:nvPr/>
        </p:nvSpPr>
        <p:spPr>
          <a:xfrm>
            <a:off x="6350000" y="2802292"/>
            <a:ext cx="5003800" cy="447852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Contact handling</a:t>
            </a:r>
          </a:p>
        </p:txBody>
      </p:sp>
      <p:sp>
        <p:nvSpPr>
          <p:cNvPr id="206" name="Shape 206"/>
          <p:cNvSpPr/>
          <p:nvPr/>
        </p:nvSpPr>
        <p:spPr>
          <a:xfrm>
            <a:off x="6350000" y="3300944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Returns processing</a:t>
            </a:r>
          </a:p>
        </p:txBody>
      </p:sp>
      <p:sp>
        <p:nvSpPr>
          <p:cNvPr id="207" name="Shape 207"/>
          <p:cNvSpPr/>
          <p:nvPr/>
        </p:nvSpPr>
        <p:spPr>
          <a:xfrm>
            <a:off x="3293872" y="3799595"/>
            <a:ext cx="2802128" cy="14451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+mn-lt"/>
              </a:rPr>
              <a:t>Platform</a:t>
            </a:r>
          </a:p>
        </p:txBody>
      </p:sp>
      <p:sp>
        <p:nvSpPr>
          <p:cNvPr id="208" name="Shape 208"/>
          <p:cNvSpPr/>
          <p:nvPr/>
        </p:nvSpPr>
        <p:spPr>
          <a:xfrm>
            <a:off x="6350000" y="3799595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Hosting</a:t>
            </a:r>
          </a:p>
        </p:txBody>
      </p:sp>
      <p:sp>
        <p:nvSpPr>
          <p:cNvPr id="209" name="Shape 209"/>
          <p:cNvSpPr/>
          <p:nvPr/>
        </p:nvSpPr>
        <p:spPr>
          <a:xfrm>
            <a:off x="6350000" y="4298246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Licences</a:t>
            </a:r>
          </a:p>
        </p:txBody>
      </p:sp>
      <p:sp>
        <p:nvSpPr>
          <p:cNvPr id="210" name="Shape 210"/>
          <p:cNvSpPr/>
          <p:nvPr/>
        </p:nvSpPr>
        <p:spPr>
          <a:xfrm>
            <a:off x="6350000" y="4796897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Payment fees</a:t>
            </a:r>
          </a:p>
        </p:txBody>
      </p:sp>
      <p:sp>
        <p:nvSpPr>
          <p:cNvPr id="211" name="Shape 211"/>
          <p:cNvSpPr/>
          <p:nvPr/>
        </p:nvSpPr>
        <p:spPr>
          <a:xfrm>
            <a:off x="3293872" y="5295548"/>
            <a:ext cx="2802128" cy="946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+mn-lt"/>
              </a:rPr>
              <a:t>People</a:t>
            </a:r>
          </a:p>
        </p:txBody>
      </p:sp>
      <p:sp>
        <p:nvSpPr>
          <p:cNvPr id="212" name="Shape 212"/>
          <p:cNvSpPr/>
          <p:nvPr/>
        </p:nvSpPr>
        <p:spPr>
          <a:xfrm>
            <a:off x="6350000" y="5295548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Training</a:t>
            </a:r>
          </a:p>
        </p:txBody>
      </p:sp>
      <p:sp>
        <p:nvSpPr>
          <p:cNvPr id="213" name="Shape 213"/>
          <p:cNvSpPr/>
          <p:nvPr/>
        </p:nvSpPr>
        <p:spPr>
          <a:xfrm>
            <a:off x="6350000" y="5794199"/>
            <a:ext cx="5003800" cy="447851"/>
          </a:xfrm>
          <a:prstGeom prst="rect">
            <a:avLst/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l"/>
            <a:r>
              <a:rPr sz="1200">
                <a:solidFill>
                  <a:schemeClr val="dk1"/>
                </a:solidFill>
                <a:latin typeface="+mn-lt"/>
              </a:rPr>
              <a:t>Capacity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1. Driver tree — four branches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Connector 214"/>
          <p:cNvCxnSpPr>
            <a:stCxn id="202" idx="3"/>
            <a:endCxn id="203" idx="1"/>
          </p:cNvCxnSpPr>
          <p:nvPr/>
        </p:nvCxnSpPr>
        <p:spPr>
          <a:xfrm>
            <a:off x="5943600" y="2869520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5" name="Connector 215"/>
          <p:cNvCxnSpPr>
            <a:stCxn id="204" idx="3"/>
            <a:endCxn id="205" idx="1"/>
          </p:cNvCxnSpPr>
          <p:nvPr/>
        </p:nvCxnSpPr>
        <p:spPr>
          <a:xfrm>
            <a:off x="5943600" y="3489635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6" name="Connector 216"/>
          <p:cNvCxnSpPr>
            <a:stCxn id="206" idx="3"/>
            <a:endCxn id="207" idx="1"/>
          </p:cNvCxnSpPr>
          <p:nvPr/>
        </p:nvCxnSpPr>
        <p:spPr>
          <a:xfrm>
            <a:off x="5943600" y="4109750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7" name="Connector 217"/>
          <p:cNvCxnSpPr>
            <a:stCxn id="208" idx="3"/>
            <a:endCxn id="209" idx="1"/>
          </p:cNvCxnSpPr>
          <p:nvPr/>
        </p:nvCxnSpPr>
        <p:spPr>
          <a:xfrm>
            <a:off x="5943600" y="4729865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8" name="Connector 218"/>
          <p:cNvCxnSpPr>
            <a:stCxn id="210" idx="3"/>
            <a:endCxn id="211" idx="1"/>
          </p:cNvCxnSpPr>
          <p:nvPr/>
        </p:nvCxnSpPr>
        <p:spPr>
          <a:xfrm>
            <a:off x="5943600" y="5349979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219" name="Connector 219"/>
          <p:cNvCxnSpPr>
            <a:stCxn id="212" idx="3"/>
            <a:endCxn id="213" idx="1"/>
          </p:cNvCxnSpPr>
          <p:nvPr/>
        </p:nvCxnSpPr>
        <p:spPr>
          <a:xfrm>
            <a:off x="5943600" y="5970093"/>
            <a:ext cx="304800" cy="1"/>
          </a:xfrm>
          <a:prstGeom prst="straightConnector1">
            <a:avLst/>
          </a:prstGeom>
          <a:ln w="12700">
            <a:solidFill>
              <a:schemeClr val="accent3"/>
            </a:solidFill>
          </a:ln>
        </p:spPr>
      </p:cxnSp>
      <p:sp>
        <p:nvSpPr>
          <p:cNvPr id="200" name="Shape 200"/>
          <p:cNvSpPr/>
          <p:nvPr/>
        </p:nvSpPr>
        <p:spPr>
          <a:xfrm>
            <a:off x="838200" y="1804988"/>
            <a:ext cx="5105400" cy="716375"/>
          </a:xfrm>
          <a:prstGeom prst="rect">
            <a:avLst/>
          </a:prstGeom>
          <a:solidFill>
            <a:schemeClr val="accent3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3E2723"/>
                </a:solidFill>
                <a:latin typeface="+mn-lt"/>
              </a:rPr>
              <a:t>Northwind Group</a:t>
            </a:r>
          </a:p>
        </p:txBody>
      </p:sp>
      <p:sp>
        <p:nvSpPr>
          <p:cNvPr id="201" name="Shape 201"/>
          <p:cNvSpPr/>
          <p:nvPr/>
        </p:nvSpPr>
        <p:spPr>
          <a:xfrm>
            <a:off x="6248400" y="1804988"/>
            <a:ext cx="5105400" cy="716375"/>
          </a:xfrm>
          <a:prstGeom prst="rect">
            <a:avLst/>
          </a:prstGeom>
          <a:solidFill>
            <a:schemeClr val="accent4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3E2723"/>
                </a:solidFill>
                <a:latin typeface="+mn-lt"/>
              </a:rPr>
              <a:t>Helios Advisory</a:t>
            </a:r>
          </a:p>
        </p:txBody>
      </p:sp>
      <p:sp>
        <p:nvSpPr>
          <p:cNvPr id="202" name="Shape 202"/>
          <p:cNvSpPr/>
          <p:nvPr/>
        </p:nvSpPr>
        <p:spPr>
          <a:xfrm>
            <a:off x="838200" y="2597563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Eva Larsen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Chief Executive</a:t>
            </a:r>
          </a:p>
        </p:txBody>
      </p:sp>
      <p:sp>
        <p:nvSpPr>
          <p:cNvPr id="203" name="Shape 203"/>
          <p:cNvSpPr/>
          <p:nvPr/>
        </p:nvSpPr>
        <p:spPr>
          <a:xfrm>
            <a:off x="6248400" y="2597563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Pavel Novak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Managing Partner</a:t>
            </a:r>
          </a:p>
        </p:txBody>
      </p:sp>
      <p:sp>
        <p:nvSpPr>
          <p:cNvPr id="204" name="Shape 204"/>
          <p:cNvSpPr/>
          <p:nvPr/>
        </p:nvSpPr>
        <p:spPr>
          <a:xfrm>
            <a:off x="838200" y="3217678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Kenji Sato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Chief Operating Officer</a:t>
            </a:r>
          </a:p>
        </p:txBody>
      </p:sp>
      <p:sp>
        <p:nvSpPr>
          <p:cNvPr id="205" name="Shape 205"/>
          <p:cNvSpPr/>
          <p:nvPr/>
        </p:nvSpPr>
        <p:spPr>
          <a:xfrm>
            <a:off x="6248400" y="3217678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Naomi Reyes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Programme Director</a:t>
            </a:r>
          </a:p>
        </p:txBody>
      </p:sp>
      <p:sp>
        <p:nvSpPr>
          <p:cNvPr id="206" name="Shape 206"/>
          <p:cNvSpPr/>
          <p:nvPr/>
        </p:nvSpPr>
        <p:spPr>
          <a:xfrm>
            <a:off x="838200" y="3837793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Olu Adeyemi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Programme Sponsor</a:t>
            </a:r>
          </a:p>
        </p:txBody>
      </p:sp>
      <p:sp>
        <p:nvSpPr>
          <p:cNvPr id="207" name="Shape 207"/>
          <p:cNvSpPr/>
          <p:nvPr/>
        </p:nvSpPr>
        <p:spPr>
          <a:xfrm>
            <a:off x="6248400" y="3837793"/>
            <a:ext cx="5105400" cy="543915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Aisha Khan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Engagement Manager</a:t>
            </a:r>
          </a:p>
        </p:txBody>
      </p:sp>
      <p:sp>
        <p:nvSpPr>
          <p:cNvPr id="208" name="Shape 208"/>
          <p:cNvSpPr/>
          <p:nvPr/>
        </p:nvSpPr>
        <p:spPr>
          <a:xfrm>
            <a:off x="838200" y="4457908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Marta Silva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Functional Lead</a:t>
            </a:r>
          </a:p>
        </p:txBody>
      </p:sp>
      <p:sp>
        <p:nvSpPr>
          <p:cNvPr id="209" name="Shape 209"/>
          <p:cNvSpPr/>
          <p:nvPr/>
        </p:nvSpPr>
        <p:spPr>
          <a:xfrm>
            <a:off x="6248400" y="4457908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Yusuf Bello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Senior Consultant</a:t>
            </a:r>
          </a:p>
        </p:txBody>
      </p:sp>
      <p:sp>
        <p:nvSpPr>
          <p:cNvPr id="210" name="Shape 210"/>
          <p:cNvSpPr/>
          <p:nvPr/>
        </p:nvSpPr>
        <p:spPr>
          <a:xfrm>
            <a:off x="838200" y="5078022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Chen Wei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Technology Lead</a:t>
            </a:r>
          </a:p>
        </p:txBody>
      </p:sp>
      <p:sp>
        <p:nvSpPr>
          <p:cNvPr id="211" name="Shape 211"/>
          <p:cNvSpPr/>
          <p:nvPr/>
        </p:nvSpPr>
        <p:spPr>
          <a:xfrm>
            <a:off x="6248400" y="5078022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Hannah Wolf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Solution Architect</a:t>
            </a:r>
          </a:p>
        </p:txBody>
      </p:sp>
      <p:sp>
        <p:nvSpPr>
          <p:cNvPr id="212" name="Shape 212"/>
          <p:cNvSpPr/>
          <p:nvPr/>
        </p:nvSpPr>
        <p:spPr>
          <a:xfrm>
            <a:off x="838200" y="5698136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Sofia Russo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Change Champion</a:t>
            </a:r>
          </a:p>
        </p:txBody>
      </p:sp>
      <p:sp>
        <p:nvSpPr>
          <p:cNvPr id="213" name="Shape 213"/>
          <p:cNvSpPr/>
          <p:nvPr/>
        </p:nvSpPr>
        <p:spPr>
          <a:xfrm>
            <a:off x="6248400" y="5698136"/>
            <a:ext cx="5105400" cy="543914"/>
          </a:xfrm>
          <a:prstGeom prst="rect">
            <a:avLst/>
          </a:prstGeom>
          <a:noFill/>
          <a:ln w="9525">
            <a:solidFill>
              <a:schemeClr val="dk2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Ravi Iyer</a:t>
            </a:r>
          </a:p>
          <a:p>
            <a:pPr algn="ctr"/>
            <a:r>
              <a:rPr sz="1200">
                <a:solidFill>
                  <a:schemeClr val="dk2"/>
                </a:solidFill>
                <a:latin typeface="+mn-lt"/>
              </a:rPr>
              <a:t>Change Lead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2. Dual organisation — six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Connector 205"/>
          <p:cNvCxnSpPr>
            <a:stCxn id="200" idx="3"/>
            <a:endCxn id="201" idx="1"/>
          </p:cNvCxnSpPr>
          <p:nvPr/>
        </p:nvCxnSpPr>
        <p:spPr>
          <a:xfrm>
            <a:off x="2819400" y="4023519"/>
            <a:ext cx="152400" cy="1"/>
          </a:xfrm>
          <a:prstGeom prst="straightConnector1">
            <a:avLst/>
          </a:prstGeom>
          <a:ln w="19050">
            <a:solidFill>
              <a:schemeClr val="dk1"/>
            </a:solidFill>
            <a:tailEnd type="triangle" w="med" len="med"/>
          </a:ln>
        </p:spPr>
      </p:cxnSp>
      <p:cxnSp>
        <p:nvCxnSpPr>
          <p:cNvPr id="206" name="Connector 206"/>
          <p:cNvCxnSpPr>
            <a:stCxn id="201" idx="3"/>
            <a:endCxn id="202" idx="1"/>
          </p:cNvCxnSpPr>
          <p:nvPr/>
        </p:nvCxnSpPr>
        <p:spPr>
          <a:xfrm>
            <a:off x="4953000" y="4023519"/>
            <a:ext cx="152400" cy="1"/>
          </a:xfrm>
          <a:prstGeom prst="straightConnector1">
            <a:avLst/>
          </a:prstGeom>
          <a:ln w="19050">
            <a:solidFill>
              <a:schemeClr val="dk1"/>
            </a:solidFill>
            <a:tailEnd type="triangle" w="med" len="med"/>
          </a:ln>
        </p:spPr>
      </p:cxnSp>
      <p:cxnSp>
        <p:nvCxnSpPr>
          <p:cNvPr id="207" name="Connector 207"/>
          <p:cNvCxnSpPr>
            <a:stCxn id="202" idx="3"/>
            <a:endCxn id="203" idx="1"/>
          </p:cNvCxnSpPr>
          <p:nvPr/>
        </p:nvCxnSpPr>
        <p:spPr>
          <a:xfrm>
            <a:off x="7086600" y="4023519"/>
            <a:ext cx="152400" cy="1"/>
          </a:xfrm>
          <a:prstGeom prst="straightConnector1">
            <a:avLst/>
          </a:prstGeom>
          <a:ln w="19050">
            <a:solidFill>
              <a:schemeClr val="dk1"/>
            </a:solidFill>
            <a:tailEnd type="triangle" w="med" len="med"/>
          </a:ln>
        </p:spPr>
      </p:cxnSp>
      <p:cxnSp>
        <p:nvCxnSpPr>
          <p:cNvPr id="208" name="Connector 208"/>
          <p:cNvCxnSpPr>
            <a:stCxn id="203" idx="3"/>
            <a:endCxn id="204" idx="1"/>
          </p:cNvCxnSpPr>
          <p:nvPr/>
        </p:nvCxnSpPr>
        <p:spPr>
          <a:xfrm>
            <a:off x="9220200" y="4023519"/>
            <a:ext cx="152400" cy="1"/>
          </a:xfrm>
          <a:prstGeom prst="straightConnector1">
            <a:avLst/>
          </a:prstGeom>
          <a:ln w="19050">
            <a:solidFill>
              <a:schemeClr val="dk1"/>
            </a:solidFill>
            <a:tailEnd type="triangle" w="med" len="med"/>
          </a:ln>
        </p:spPr>
      </p:cxnSp>
      <p:sp>
        <p:nvSpPr>
          <p:cNvPr id="200" name="Shape 200"/>
          <p:cNvSpPr/>
          <p:nvPr/>
        </p:nvSpPr>
        <p:spPr>
          <a:xfrm>
            <a:off x="838200" y="3248819"/>
            <a:ext cx="1981200" cy="1549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Ingest</a:t>
            </a:r>
          </a:p>
        </p:txBody>
      </p:sp>
      <p:sp>
        <p:nvSpPr>
          <p:cNvPr id="201" name="Shape 201"/>
          <p:cNvSpPr/>
          <p:nvPr/>
        </p:nvSpPr>
        <p:spPr>
          <a:xfrm>
            <a:off x="2971800" y="3248819"/>
            <a:ext cx="1981200" cy="1549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Transform</a:t>
            </a:r>
          </a:p>
        </p:txBody>
      </p:sp>
      <p:sp>
        <p:nvSpPr>
          <p:cNvPr id="202" name="Shape 202"/>
          <p:cNvSpPr/>
          <p:nvPr/>
        </p:nvSpPr>
        <p:spPr>
          <a:xfrm>
            <a:off x="5105400" y="3248819"/>
            <a:ext cx="1981200" cy="1549400"/>
          </a:xfrm>
          <a:prstGeom prst="diamond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Validate</a:t>
            </a:r>
          </a:p>
        </p:txBody>
      </p:sp>
      <p:sp>
        <p:nvSpPr>
          <p:cNvPr id="203" name="Shape 203"/>
          <p:cNvSpPr/>
          <p:nvPr/>
        </p:nvSpPr>
        <p:spPr>
          <a:xfrm>
            <a:off x="7239000" y="3248819"/>
            <a:ext cx="1981200" cy="1549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Analyze</a:t>
            </a:r>
          </a:p>
        </p:txBody>
      </p:sp>
      <p:sp>
        <p:nvSpPr>
          <p:cNvPr id="204" name="Shape 204"/>
          <p:cNvSpPr/>
          <p:nvPr/>
        </p:nvSpPr>
        <p:spPr>
          <a:xfrm>
            <a:off x="9372600" y="3248819"/>
            <a:ext cx="1981200" cy="154940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Alert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3. Process flow —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38200" y="1804988"/>
            <a:ext cx="1554480" cy="1462088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Sales Rep</a:t>
            </a:r>
          </a:p>
        </p:txBody>
      </p:sp>
      <p:sp>
        <p:nvSpPr>
          <p:cNvPr id="201" name="Shape 201"/>
          <p:cNvSpPr/>
          <p:nvPr/>
        </p:nvSpPr>
        <p:spPr>
          <a:xfrm>
            <a:off x="2443480" y="1804988"/>
            <a:ext cx="2936240" cy="1462088"/>
          </a:xfrm>
          <a:prstGeom prst="roundRect">
            <a:avLst>
              <a:gd name="adj" fmla="val 0"/>
            </a:avLst>
          </a:prstGeom>
          <a:solidFill>
            <a:schemeClr val="l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Qualify lead</a:t>
            </a:r>
          </a:p>
        </p:txBody>
      </p:sp>
      <p:sp>
        <p:nvSpPr>
          <p:cNvPr id="202" name="Shape 202"/>
          <p:cNvSpPr/>
          <p:nvPr/>
        </p:nvSpPr>
        <p:spPr>
          <a:xfrm>
            <a:off x="5430520" y="1804988"/>
            <a:ext cx="2936240" cy="1462088"/>
          </a:xfrm>
          <a:prstGeom prst="roundRect">
            <a:avLst>
              <a:gd name="adj" fmla="val 0"/>
            </a:avLst>
          </a:prstGeom>
          <a:solidFill>
            <a:schemeClr val="l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Submit proposal</a:t>
            </a:r>
          </a:p>
        </p:txBody>
      </p:sp>
      <p:sp>
        <p:nvSpPr>
          <p:cNvPr id="203" name="Shape 203"/>
          <p:cNvSpPr/>
          <p:nvPr/>
        </p:nvSpPr>
        <p:spPr>
          <a:xfrm>
            <a:off x="8417560" y="1804988"/>
            <a:ext cx="2936240" cy="1462088"/>
          </a:xfrm>
          <a:prstGeom prst="rect">
            <a:avLst/>
          </a:prstGeom>
          <a:solidFill>
            <a:schemeClr val="lt1"/>
          </a:solidFill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38200" y="3292476"/>
            <a:ext cx="1554480" cy="1462087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Legal</a:t>
            </a:r>
          </a:p>
        </p:txBody>
      </p:sp>
      <p:sp>
        <p:nvSpPr>
          <p:cNvPr id="205" name="Shape 205"/>
          <p:cNvSpPr/>
          <p:nvPr/>
        </p:nvSpPr>
        <p:spPr>
          <a:xfrm>
            <a:off x="2443480" y="3292476"/>
            <a:ext cx="2936240" cy="1462087"/>
          </a:xfrm>
          <a:prstGeom prst="rect">
            <a:avLst/>
          </a:prstGeom>
          <a:solidFill>
            <a:schemeClr val="lt2">
              <a:alpha val="50000"/>
            </a:schemeClr>
          </a:solidFill>
        </p:spPr>
        <p:txBody>
          <a:bodyPr/>
          <a:lstStyle/>
          <a:p/>
        </p:txBody>
      </p:sp>
      <p:sp>
        <p:nvSpPr>
          <p:cNvPr id="206" name="Shape 206"/>
          <p:cNvSpPr/>
          <p:nvPr/>
        </p:nvSpPr>
        <p:spPr>
          <a:xfrm>
            <a:off x="5430520" y="3292476"/>
            <a:ext cx="2936240" cy="1462087"/>
          </a:xfrm>
          <a:prstGeom prst="roundRect">
            <a:avLst>
              <a:gd name="adj" fmla="val 0"/>
            </a:avLst>
          </a:prstGeom>
          <a:solidFill>
            <a:schemeClr val="lt2">
              <a:alpha val="5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Review terms</a:t>
            </a:r>
          </a:p>
        </p:txBody>
      </p:sp>
      <p:sp>
        <p:nvSpPr>
          <p:cNvPr id="207" name="Shape 207"/>
          <p:cNvSpPr/>
          <p:nvPr/>
        </p:nvSpPr>
        <p:spPr>
          <a:xfrm>
            <a:off x="8417560" y="3292476"/>
            <a:ext cx="2936240" cy="1462087"/>
          </a:xfrm>
          <a:prstGeom prst="roundRect">
            <a:avLst>
              <a:gd name="adj" fmla="val 0"/>
            </a:avLst>
          </a:prstGeom>
          <a:solidFill>
            <a:schemeClr val="lt2">
              <a:alpha val="50000"/>
            </a:schemeClr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Approve contract</a:t>
            </a:r>
          </a:p>
        </p:txBody>
      </p:sp>
      <p:sp>
        <p:nvSpPr>
          <p:cNvPr id="208" name="Shape 208"/>
          <p:cNvSpPr/>
          <p:nvPr/>
        </p:nvSpPr>
        <p:spPr>
          <a:xfrm>
            <a:off x="838200" y="4779963"/>
            <a:ext cx="1554480" cy="1462087"/>
          </a:xfrm>
          <a:prstGeom prst="rect">
            <a:avLst/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+mn-lt"/>
              </a:rPr>
              <a:t>Finance</a:t>
            </a:r>
          </a:p>
        </p:txBody>
      </p:sp>
      <p:sp>
        <p:nvSpPr>
          <p:cNvPr id="209" name="Shape 209"/>
          <p:cNvSpPr/>
          <p:nvPr/>
        </p:nvSpPr>
        <p:spPr>
          <a:xfrm>
            <a:off x="2443480" y="4779963"/>
            <a:ext cx="2936240" cy="1462087"/>
          </a:xfrm>
          <a:prstGeom prst="rect">
            <a:avLst/>
          </a:prstGeom>
          <a:solidFill>
            <a:schemeClr val="lt1"/>
          </a:solidFill>
        </p:spPr>
        <p:txBody>
          <a:bodyPr/>
          <a:lstStyle/>
          <a:p/>
        </p:txBody>
      </p:sp>
      <p:sp>
        <p:nvSpPr>
          <p:cNvPr id="210" name="Shape 210"/>
          <p:cNvSpPr/>
          <p:nvPr/>
        </p:nvSpPr>
        <p:spPr>
          <a:xfrm>
            <a:off x="5430520" y="4779963"/>
            <a:ext cx="2936240" cy="1462087"/>
          </a:xfrm>
          <a:prstGeom prst="rect">
            <a:avLst/>
          </a:prstGeom>
          <a:solidFill>
            <a:schemeClr val="lt1"/>
          </a:solidFill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8417560" y="4779963"/>
            <a:ext cx="2936240" cy="1462087"/>
          </a:xfrm>
          <a:prstGeom prst="roundRect">
            <a:avLst>
              <a:gd name="adj" fmla="val 0"/>
            </a:avLst>
          </a:prstGeom>
          <a:solidFill>
            <a:schemeClr val="l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Book revenue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4. Swimlane — cross-team handoffs</a:t>
            </a:r>
          </a:p>
        </p:txBody>
      </p:sp>
      <p:cxnSp>
        <p:nvCxnSpPr>
          <p:cNvPr id="400" name="Overlay arrow 1"/>
          <p:cNvCxnSpPr/>
          <p:nvPr/>
        </p:nvCxnSpPr>
        <p:spPr>
          <a:xfrm>
            <a:off x="5086096" y="3120868"/>
            <a:ext cx="638048" cy="31781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401" name="Overlay arrow 2"/>
          <p:cNvCxnSpPr/>
          <p:nvPr/>
        </p:nvCxnSpPr>
        <p:spPr>
          <a:xfrm>
            <a:off x="9885680" y="4608355"/>
            <a:ext cx="1" cy="31781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pPr marL="0" indent="0" algn="l">
              <a:buNone/>
            </a:pPr>
            <a:r>
              <a:rPr lang="en-US"/>
              <a:t>5. Porter’s Five Forces</a:t>
            </a:r>
          </a:p>
        </p:txBody>
      </p:sp>
      <p:grpSp>
        <p:nvGrpSpPr>
          <p:cNvPr id="10000" name="Porters Five Forces" descr="Porters five forces diagram, Enterprise Cloud Services. 5 forces."/>
          <p:cNvGrpSpPr/>
          <p:nvPr/>
        </p:nvGrpSpPr>
        <p:grpSpPr>
          <a:xfrm>
            <a:off x="838200" y="1825625"/>
            <a:ext cx="10515600" cy="4351338"/>
            <a:chOff x="838200" y="1825625"/>
            <a:chExt cx="10515600" cy="4351338"/>
          </a:xfrm>
        </p:grpSpPr>
        <p:sp>
          <p:nvSpPr>
            <p:cNvPr id="10001" name="Porter Competitive Rivalry"/>
            <p:cNvSpPr/>
            <p:nvPr/>
          </p:nvSpPr>
          <p:spPr>
            <a:xfrm>
              <a:off x="4518660" y="3348594"/>
              <a:ext cx="3154680" cy="1305401"/>
            </a:xfrm>
            <a:prstGeom prst="roundRect">
              <a:avLst>
                <a:gd name="adj" fmla="val 8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accent1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dk1"/>
                  </a:solidFill>
                </a:rPr>
                <a:t>Competitive Rivalry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High (90%)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AWS, Azure, GCP dominance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Price competition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Feature parity race</a:t>
              </a:r>
            </a:p>
          </p:txBody>
        </p:sp>
        <p:sp>
          <p:nvSpPr>
            <p:cNvPr id="10002" name="Porter Threat of New Entrants"/>
            <p:cNvSpPr/>
            <p:nvPr/>
          </p:nvSpPr>
          <p:spPr>
            <a:xfrm>
              <a:off x="4623816" y="1825625"/>
              <a:ext cx="2944368" cy="1087834"/>
            </a:xfrm>
            <a:prstGeom prst="roundRect">
              <a:avLst>
                <a:gd name="adj" fmla="val 8000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accent5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200" b="1" dirty="0">
                  <a:solidFill>
                    <a:schemeClr val="dk1"/>
                  </a:solidFill>
                </a:rPr>
                <a:t>Threat of New Entrants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Low (30%)</a:t>
              </a:r>
            </a:p>
            <a:p>
              <a:pPr algn="l">
                <a:buClr>
                  <a:schemeClr val="accent5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High capital requirements</a:t>
              </a:r>
            </a:p>
            <a:p>
              <a:pPr algn="l">
                <a:buClr>
                  <a:schemeClr val="accent5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Economies of scale needed</a:t>
              </a:r>
            </a:p>
            <a:p>
              <a:pPr algn="l">
                <a:buClr>
                  <a:schemeClr val="accent5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Brand loyalty barriers</a:t>
              </a:r>
            </a:p>
          </p:txBody>
        </p:sp>
        <p:sp>
          <p:nvSpPr>
            <p:cNvPr id="10003" name="Porter Threat of Substitutes"/>
            <p:cNvSpPr/>
            <p:nvPr/>
          </p:nvSpPr>
          <p:spPr>
            <a:xfrm>
              <a:off x="4623816" y="5089129"/>
              <a:ext cx="2944368" cy="1087834"/>
            </a:xfrm>
            <a:prstGeom prst="roundRect">
              <a:avLst>
                <a:gd name="adj" fmla="val 800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accent3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200" b="1" dirty="0">
                  <a:solidFill>
                    <a:schemeClr val="dk1"/>
                  </a:solidFill>
                </a:rPr>
                <a:t>Threat of Substitutes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Medium (50%)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On-premise declining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Hybrid options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Edge computing emerging</a:t>
              </a:r>
            </a:p>
          </p:txBody>
        </p:sp>
        <p:sp>
          <p:nvSpPr>
            <p:cNvPr id="10004" name="Porter Supplier Power"/>
            <p:cNvSpPr/>
            <p:nvPr/>
          </p:nvSpPr>
          <p:spPr>
            <a:xfrm>
              <a:off x="838200" y="3457377"/>
              <a:ext cx="2944368" cy="1087834"/>
            </a:xfrm>
            <a:prstGeom prst="roundRect">
              <a:avLst>
                <a:gd name="adj" fmla="val 800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accent3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200" b="1" dirty="0">
                  <a:solidFill>
                    <a:schemeClr val="dk1"/>
                  </a:solidFill>
                </a:rPr>
                <a:t>Supplier Power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Medium (60%)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Chip shortages impact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Data center real estate</a:t>
              </a:r>
            </a:p>
            <a:p>
              <a:pPr algn="l">
                <a:buClr>
                  <a:schemeClr val="accent3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Network providers</a:t>
              </a:r>
            </a:p>
          </p:txBody>
        </p:sp>
        <p:sp>
          <p:nvSpPr>
            <p:cNvPr id="10005" name="Porter Buyer Power"/>
            <p:cNvSpPr/>
            <p:nvPr/>
          </p:nvSpPr>
          <p:spPr>
            <a:xfrm>
              <a:off x="8409432" y="3457377"/>
              <a:ext cx="2944368" cy="1087834"/>
            </a:xfrm>
            <a:prstGeom prst="roundRect">
              <a:avLst>
                <a:gd name="adj" fmla="val 8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accent1"/>
              </a:solidFill>
            </a:ln>
          </p:spPr>
          <p:txBody>
            <a:bodyPr wrap="square" anchor="ctr" lIns="73152" tIns="73152" rIns="73152" bIns="73152">
              <a:normAutofit/>
            </a:bodyPr>
            <a:lstStyle/>
            <a:p>
              <a:pPr algn="ctr">
                <a:buNone/>
              </a:pPr>
              <a:r>
                <a:rPr lang="en-US" sz="1200" b="1" dirty="0">
                  <a:solidFill>
                    <a:schemeClr val="dk1"/>
                  </a:solidFill>
                </a:rPr>
                <a:t>Buyer Power</a:t>
              </a:r>
            </a:p>
            <a:p>
              <a:pPr algn="ctr">
                <a:buNone/>
              </a:pPr>
              <a:r>
                <a:rPr lang="en-US" sz="900" i="1" dirty="0">
                  <a:solidFill>
                    <a:schemeClr val="dk2"/>
                  </a:solidFill>
                </a:rPr>
                <a:t>High (70%)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Multi-cloud strategies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Negotiation leverage</a:t>
              </a:r>
            </a:p>
            <a:p>
              <a:pPr algn="l">
                <a:buClr>
                  <a:schemeClr val="accent1"/>
                </a:buClr>
                <a:buFont typeface="Arial"/>
                <a:buChar char="•"/>
              </a:pPr>
              <a:r>
                <a:rPr lang="en-US" sz="1000" dirty="0">
                  <a:solidFill>
                    <a:schemeClr val="dk1"/>
                  </a:solidFill>
                </a:rPr>
                <a:t>Switching costs decreasing</a:t>
              </a:r>
            </a:p>
          </p:txBody>
        </p:sp>
        <p:cxnSp>
          <p:nvCxnSpPr>
            <p:cNvPr id="10006" name="Porter Connector 10006"/>
            <p:cNvCxnSpPr>
              <a:stCxn id="10002" idx="2"/>
              <a:endCxn id="10001" idx="0"/>
            </p:cNvCxnSpPr>
            <p:nvPr/>
          </p:nvCxnSpPr>
          <p:spPr>
            <a:xfrm>
              <a:off x="0" y="0"/>
              <a:ext cx="1" cy="1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 w="med" len="med"/>
            </a:ln>
          </p:spPr>
        </p:cxnSp>
        <p:cxnSp>
          <p:nvCxnSpPr>
            <p:cNvPr id="10007" name="Porter Connector 10007"/>
            <p:cNvCxnSpPr>
              <a:stCxn id="10003" idx="0"/>
              <a:endCxn id="10001" idx="2"/>
            </p:cNvCxnSpPr>
            <p:nvPr/>
          </p:nvCxnSpPr>
          <p:spPr>
            <a:xfrm>
              <a:off x="0" y="0"/>
              <a:ext cx="1" cy="1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 w="med" len="med"/>
            </a:ln>
          </p:spPr>
        </p:cxnSp>
        <p:cxnSp>
          <p:nvCxnSpPr>
            <p:cNvPr id="10008" name="Porter Connector 10008"/>
            <p:cNvCxnSpPr>
              <a:stCxn id="10004" idx="3"/>
              <a:endCxn id="10001" idx="1"/>
            </p:cNvCxnSpPr>
            <p:nvPr/>
          </p:nvCxnSpPr>
          <p:spPr>
            <a:xfrm>
              <a:off x="0" y="0"/>
              <a:ext cx="1" cy="1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 w="med" len="med"/>
            </a:ln>
          </p:spPr>
        </p:cxnSp>
        <p:cxnSp>
          <p:nvCxnSpPr>
            <p:cNvPr id="10009" name="Porter Connector 10009"/>
            <p:cNvCxnSpPr>
              <a:stCxn id="10005" idx="1"/>
              <a:endCxn id="10001" idx="3"/>
            </p:cNvCxnSpPr>
            <p:nvPr/>
          </p:nvCxnSpPr>
          <p:spPr>
            <a:xfrm>
              <a:off x="0" y="0"/>
              <a:ext cx="1" cy="1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Connector 207"/>
          <p:cNvCxnSpPr>
            <a:stCxn id="200" idx="3"/>
            <a:endCxn id="201" idx="1"/>
          </p:cNvCxnSpPr>
          <p:nvPr/>
        </p:nvCxnSpPr>
        <p:spPr>
          <a:xfrm flipV="1">
            <a:off x="4207934" y="2485232"/>
            <a:ext cx="203200" cy="1538287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08" name="Connector 208"/>
          <p:cNvCxnSpPr>
            <a:stCxn id="201" idx="3"/>
            <a:endCxn id="202" idx="1"/>
          </p:cNvCxnSpPr>
          <p:nvPr/>
        </p:nvCxnSpPr>
        <p:spPr>
          <a:xfrm>
            <a:off x="7780867" y="2485232"/>
            <a:ext cx="20320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09" name="Connector 209"/>
          <p:cNvCxnSpPr>
            <a:stCxn id="200" idx="3"/>
            <a:endCxn id="203" idx="1"/>
          </p:cNvCxnSpPr>
          <p:nvPr/>
        </p:nvCxnSpPr>
        <p:spPr>
          <a:xfrm>
            <a:off x="4207934" y="4023519"/>
            <a:ext cx="20320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10" name="Connector 210"/>
          <p:cNvCxnSpPr>
            <a:stCxn id="203" idx="3"/>
            <a:endCxn id="204" idx="1"/>
          </p:cNvCxnSpPr>
          <p:nvPr/>
        </p:nvCxnSpPr>
        <p:spPr>
          <a:xfrm>
            <a:off x="7780867" y="4023519"/>
            <a:ext cx="20320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11" name="Connector 211"/>
          <p:cNvCxnSpPr>
            <a:stCxn id="200" idx="3"/>
            <a:endCxn id="205" idx="1"/>
          </p:cNvCxnSpPr>
          <p:nvPr/>
        </p:nvCxnSpPr>
        <p:spPr>
          <a:xfrm>
            <a:off x="4207934" y="4023519"/>
            <a:ext cx="203200" cy="1538287"/>
          </a:xfrm>
          <a:prstGeom prst="bentConnector3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212" name="Connector 212"/>
          <p:cNvCxnSpPr>
            <a:stCxn id="205" idx="3"/>
            <a:endCxn id="206" idx="1"/>
          </p:cNvCxnSpPr>
          <p:nvPr/>
        </p:nvCxnSpPr>
        <p:spPr>
          <a:xfrm>
            <a:off x="7780867" y="5561806"/>
            <a:ext cx="203200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200" name="Shape 200"/>
          <p:cNvSpPr/>
          <p:nvPr/>
        </p:nvSpPr>
        <p:spPr>
          <a:xfrm>
            <a:off x="838200" y="1804988"/>
            <a:ext cx="3369734" cy="4437062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Programme</a:t>
            </a:r>
          </a:p>
        </p:txBody>
      </p:sp>
      <p:sp>
        <p:nvSpPr>
          <p:cNvPr id="201" name="Shape 201"/>
          <p:cNvSpPr/>
          <p:nvPr/>
        </p:nvSpPr>
        <p:spPr>
          <a:xfrm>
            <a:off x="4411134" y="1804988"/>
            <a:ext cx="3369733" cy="1360488"/>
          </a:xfrm>
          <a:prstGeom prst="roundRect">
            <a:avLst>
              <a:gd name="adj" fmla="val 0"/>
            </a:avLst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Technology</a:t>
            </a:r>
          </a:p>
        </p:txBody>
      </p:sp>
      <p:sp>
        <p:nvSpPr>
          <p:cNvPr id="202" name="Shape 202"/>
          <p:cNvSpPr/>
          <p:nvPr/>
        </p:nvSpPr>
        <p:spPr>
          <a:xfrm>
            <a:off x="7984067" y="1804988"/>
            <a:ext cx="3369733" cy="1360488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Deploy platform</a:t>
            </a:r>
          </a:p>
        </p:txBody>
      </p:sp>
      <p:sp>
        <p:nvSpPr>
          <p:cNvPr id="203" name="Shape 203"/>
          <p:cNvSpPr/>
          <p:nvPr/>
        </p:nvSpPr>
        <p:spPr>
          <a:xfrm>
            <a:off x="4411134" y="3343276"/>
            <a:ext cx="3369733" cy="1360487"/>
          </a:xfrm>
          <a:prstGeom prst="roundRect">
            <a:avLst>
              <a:gd name="adj" fmla="val 0"/>
            </a:avLst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Operations</a:t>
            </a:r>
          </a:p>
        </p:txBody>
      </p:sp>
      <p:sp>
        <p:nvSpPr>
          <p:cNvPr id="204" name="Shape 204"/>
          <p:cNvSpPr/>
          <p:nvPr/>
        </p:nvSpPr>
        <p:spPr>
          <a:xfrm>
            <a:off x="7984067" y="3343276"/>
            <a:ext cx="3369733" cy="1360487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Redesign process</a:t>
            </a:r>
          </a:p>
        </p:txBody>
      </p:sp>
      <p:sp>
        <p:nvSpPr>
          <p:cNvPr id="205" name="Shape 205"/>
          <p:cNvSpPr/>
          <p:nvPr/>
        </p:nvSpPr>
        <p:spPr>
          <a:xfrm>
            <a:off x="4411134" y="4881563"/>
            <a:ext cx="3369733" cy="1360487"/>
          </a:xfrm>
          <a:prstGeom prst="roundRect">
            <a:avLst>
              <a:gd name="adj" fmla="val 0"/>
            </a:avLst>
          </a:prstGeom>
          <a:solidFill>
            <a:schemeClr val="lt2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People</a:t>
            </a:r>
          </a:p>
        </p:txBody>
      </p:sp>
      <p:sp>
        <p:nvSpPr>
          <p:cNvPr id="206" name="Shape 206"/>
          <p:cNvSpPr/>
          <p:nvPr/>
        </p:nvSpPr>
        <p:spPr>
          <a:xfrm>
            <a:off x="7984067" y="4881563"/>
            <a:ext cx="3369733" cy="1360487"/>
          </a:xfrm>
          <a:prstGeom prst="roundRect">
            <a:avLst>
              <a:gd name="adj" fmla="val 0"/>
            </a:avLst>
          </a:prstGeom>
          <a:solidFill>
            <a:schemeClr val="accent3"/>
          </a:solidFill>
        </p:spPr>
        <p:txBody>
          <a:bodyPr wrap="square" anchor="ctr">
            <a:normAutofit/>
          </a:bodyPr>
          <a:lstStyle/>
          <a:p>
            <a:pPr algn="ctr"/>
            <a:r>
              <a:rPr sz="1400">
                <a:latin typeface="+mn-lt"/>
              </a:rPr>
              <a:t>Train teams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rmAutofit/>
          </a:bodyPr>
          <a:lstStyle/>
          <a:p>
            <a:r>
              <a:rPr lang="en-US"/>
              <a:t>6. Explicit connectors — fan-out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Coral">
  <a:themeElements>
    <a:clrScheme name="Warm Coral">
      <a:dk1>
        <a:srgbClr val="000000"/>
      </a:dk1>
      <a:lt1>
        <a:srgbClr val="FFFFFF"/>
      </a:lt1>
      <a:dk2>
        <a:srgbClr val="3E2723"/>
      </a:dk2>
      <a:lt2>
        <a:srgbClr val="FBE9E7"/>
      </a:lt2>
      <a:accent1>
        <a:srgbClr val="E64A19"/>
      </a:accent1>
      <a:accent2>
        <a:srgbClr val="5D4037"/>
      </a:accent2>
      <a:accent3>
        <a:srgbClr val="FF8A65"/>
      </a:accent3>
      <a:accent4>
        <a:srgbClr val="0097A7"/>
      </a:accent4>
      <a:accent5>
        <a:srgbClr val="7B1FA2"/>
      </a:accent5>
      <a:accent6>
        <a:srgbClr val="689F38"/>
      </a:accent6>
      <a:hlink>
        <a:srgbClr val="0097A7"/>
      </a:hlink>
      <a:folHlink>
        <a:srgbClr val="7986CB"/>
      </a:folHlink>
    </a:clrScheme>
    <a:fontScheme name="Warm Coral">
      <a:majorFont>
        <a:latin typeface="Gill Sans"/>
        <a:ea typeface=""/>
        <a:cs typeface=""/>
      </a:majorFont>
      <a:minorFont>
        <a:latin typeface="Calibri"/>
        <a:ea typeface=""/>
        <a:cs typeface=""/>
      </a:minorFont>
    </a:fontScheme>
    <a:fmtScheme name="Warm Cor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Warm Coral</Template>
  <TotalTime>0</TotalTime>
  <Words>4</Words>
  <Application>go-slide-creator</Application>
  <PresentationFormat>Widescreen</PresentationFormat>
  <Paragraphs>1</Paragraphs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