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Master" Target="slideMasters/slideMaster1.xml"></Relationship><Relationship Id="rId6" Type="http://schemas.openxmlformats.org/officeDocument/2006/relationships/presProps" Target="presProps.xml"></Relationship><Relationship Id="rId7" Type="http://schemas.openxmlformats.org/officeDocument/2006/relationships/viewProps" Target="viewProps.xml"></Relationship><Relationship Id="rId8" Type="http://schemas.openxmlformats.org/officeDocument/2006/relationships/theme" Target="theme/theme1.xml"></Relationship><Relationship Id="rId9" Type="http://schemas.openxmlformats.org/officeDocument/2006/relationships/tableStyles" Target="tableStyles.xml"></Relationship><Relationship Id="rId10" Type="http://schemas.openxmlformats.org/officeDocument/2006/relationships/slide" Target="slides/slide1.xml"></Relationship><Relationship Id="rId11" Type="http://schemas.openxmlformats.org/officeDocument/2006/relationships/slide" Target="slides/slide2.xml"></Relationship><Relationship Id="rId12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4" Type="http://schemas.openxmlformats.org/officeDocument/2006/relationships/slide" Target="slides/slide5.xml"></Relationship><Relationship Id="rId15" Type="http://schemas.openxmlformats.org/officeDocument/2006/relationships/slide" Target="slides/slide6.xml"></Relationship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485900" y="685800"/>
            <a:ext cx="9486900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485900" y="2667000"/>
            <a:ext cx="94869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324000" y="0"/>
            <a:ext cx="720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Connector 214"/>
          <p:cNvCxnSpPr>
            <a:stCxn id="200" idx="3"/>
            <a:endCxn id="201" idx="1"/>
          </p:cNvCxnSpPr>
          <p:nvPr/>
        </p:nvCxnSpPr>
        <p:spPr>
          <a:xfrm flipV="1">
            <a:off x="3039872" y="2278240"/>
            <a:ext cx="254000" cy="1745279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5" name="Connector 215"/>
          <p:cNvCxnSpPr>
            <a:stCxn id="201" idx="3"/>
            <a:endCxn id="202" idx="1"/>
          </p:cNvCxnSpPr>
          <p:nvPr/>
        </p:nvCxnSpPr>
        <p:spPr>
          <a:xfrm flipV="1">
            <a:off x="6096000" y="2028914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6" name="Connector 216"/>
          <p:cNvCxnSpPr>
            <a:stCxn id="201" idx="3"/>
            <a:endCxn id="203" idx="1"/>
          </p:cNvCxnSpPr>
          <p:nvPr/>
        </p:nvCxnSpPr>
        <p:spPr>
          <a:xfrm>
            <a:off x="6096000" y="2278240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7" name="Connector 217"/>
          <p:cNvCxnSpPr>
            <a:stCxn id="200" idx="3"/>
            <a:endCxn id="204" idx="1"/>
          </p:cNvCxnSpPr>
          <p:nvPr/>
        </p:nvCxnSpPr>
        <p:spPr>
          <a:xfrm flipV="1">
            <a:off x="3039872" y="3275543"/>
            <a:ext cx="254000" cy="74797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8" name="Connector 218"/>
          <p:cNvCxnSpPr>
            <a:stCxn id="204" idx="3"/>
            <a:endCxn id="205" idx="1"/>
          </p:cNvCxnSpPr>
          <p:nvPr/>
        </p:nvCxnSpPr>
        <p:spPr>
          <a:xfrm flipV="1">
            <a:off x="6096000" y="3026218"/>
            <a:ext cx="254000" cy="249325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9" name="Connector 219"/>
          <p:cNvCxnSpPr>
            <a:stCxn id="204" idx="3"/>
            <a:endCxn id="206" idx="1"/>
          </p:cNvCxnSpPr>
          <p:nvPr/>
        </p:nvCxnSpPr>
        <p:spPr>
          <a:xfrm>
            <a:off x="6096000" y="3275543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0" name="Connector 220"/>
          <p:cNvCxnSpPr>
            <a:stCxn id="200" idx="3"/>
            <a:endCxn id="207" idx="1"/>
          </p:cNvCxnSpPr>
          <p:nvPr/>
        </p:nvCxnSpPr>
        <p:spPr>
          <a:xfrm>
            <a:off x="3039872" y="4023519"/>
            <a:ext cx="254000" cy="498652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1" name="Connector 221"/>
          <p:cNvCxnSpPr>
            <a:stCxn id="207" idx="3"/>
            <a:endCxn id="208" idx="1"/>
          </p:cNvCxnSpPr>
          <p:nvPr/>
        </p:nvCxnSpPr>
        <p:spPr>
          <a:xfrm flipV="1">
            <a:off x="6096000" y="4023520"/>
            <a:ext cx="254000" cy="498651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2" name="Connector 222"/>
          <p:cNvCxnSpPr>
            <a:stCxn id="207" idx="3"/>
            <a:endCxn id="209" idx="1"/>
          </p:cNvCxnSpPr>
          <p:nvPr/>
        </p:nvCxnSpPr>
        <p:spPr>
          <a:xfrm>
            <a:off x="6096000" y="4522171"/>
            <a:ext cx="254000" cy="1"/>
          </a:xfrm>
          <a:prstGeom prst="straightConnector1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3" name="Connector 223"/>
          <p:cNvCxnSpPr>
            <a:stCxn id="207" idx="3"/>
            <a:endCxn id="210" idx="1"/>
          </p:cNvCxnSpPr>
          <p:nvPr/>
        </p:nvCxnSpPr>
        <p:spPr>
          <a:xfrm>
            <a:off x="6096000" y="4522171"/>
            <a:ext cx="254000" cy="498651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4" name="Connector 224"/>
          <p:cNvCxnSpPr>
            <a:stCxn id="200" idx="3"/>
            <a:endCxn id="211" idx="1"/>
          </p:cNvCxnSpPr>
          <p:nvPr/>
        </p:nvCxnSpPr>
        <p:spPr>
          <a:xfrm>
            <a:off x="3039872" y="4023519"/>
            <a:ext cx="254000" cy="1745280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5" name="Connector 225"/>
          <p:cNvCxnSpPr>
            <a:stCxn id="211" idx="3"/>
            <a:endCxn id="212" idx="1"/>
          </p:cNvCxnSpPr>
          <p:nvPr/>
        </p:nvCxnSpPr>
        <p:spPr>
          <a:xfrm flipV="1">
            <a:off x="6096000" y="5519473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6" name="Connector 226"/>
          <p:cNvCxnSpPr>
            <a:stCxn id="211" idx="3"/>
            <a:endCxn id="213" idx="1"/>
          </p:cNvCxnSpPr>
          <p:nvPr/>
        </p:nvCxnSpPr>
        <p:spPr>
          <a:xfrm>
            <a:off x="6096000" y="5768799"/>
            <a:ext cx="254000" cy="249325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2201672" cy="4437062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chemeClr val="lt1"/>
                </a:solidFill>
                <a:latin typeface="+mn-lt"/>
              </a:rPr>
              <a:t>Total Cost to Serve</a:t>
            </a:r>
          </a:p>
          <a:p>
            <a:pPr algn="ctr"/>
            <a:r>
              <a:rPr sz="1200">
                <a:solidFill>
                  <a:schemeClr val="lt1"/>
                </a:solidFill>
                <a:latin typeface="+mn-lt"/>
              </a:rPr>
              <a:t>($/order)</a:t>
            </a:r>
          </a:p>
        </p:txBody>
      </p:sp>
      <p:sp>
        <p:nvSpPr>
          <p:cNvPr id="201" name="Shape 201"/>
          <p:cNvSpPr/>
          <p:nvPr/>
        </p:nvSpPr>
        <p:spPr>
          <a:xfrm>
            <a:off x="3293872" y="1804988"/>
            <a:ext cx="2802128" cy="946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Fulfilment</a:t>
            </a:r>
          </a:p>
        </p:txBody>
      </p:sp>
      <p:sp>
        <p:nvSpPr>
          <p:cNvPr id="202" name="Shape 202"/>
          <p:cNvSpPr/>
          <p:nvPr/>
        </p:nvSpPr>
        <p:spPr>
          <a:xfrm>
            <a:off x="6350000" y="1804988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Pick &amp; pack</a:t>
            </a:r>
          </a:p>
        </p:txBody>
      </p:sp>
      <p:sp>
        <p:nvSpPr>
          <p:cNvPr id="203" name="Shape 203"/>
          <p:cNvSpPr/>
          <p:nvPr/>
        </p:nvSpPr>
        <p:spPr>
          <a:xfrm>
            <a:off x="6350000" y="2303640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Outbound freight</a:t>
            </a:r>
          </a:p>
        </p:txBody>
      </p:sp>
      <p:sp>
        <p:nvSpPr>
          <p:cNvPr id="204" name="Shape 204"/>
          <p:cNvSpPr/>
          <p:nvPr/>
        </p:nvSpPr>
        <p:spPr>
          <a:xfrm>
            <a:off x="3293872" y="2802292"/>
            <a:ext cx="2802128" cy="9465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Customer Care</a:t>
            </a:r>
          </a:p>
        </p:txBody>
      </p:sp>
      <p:sp>
        <p:nvSpPr>
          <p:cNvPr id="205" name="Shape 205"/>
          <p:cNvSpPr/>
          <p:nvPr/>
        </p:nvSpPr>
        <p:spPr>
          <a:xfrm>
            <a:off x="6350000" y="2802292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Contact handling</a:t>
            </a:r>
          </a:p>
        </p:txBody>
      </p:sp>
      <p:sp>
        <p:nvSpPr>
          <p:cNvPr id="206" name="Shape 206"/>
          <p:cNvSpPr/>
          <p:nvPr/>
        </p:nvSpPr>
        <p:spPr>
          <a:xfrm>
            <a:off x="6350000" y="3300944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Returns processing</a:t>
            </a:r>
          </a:p>
        </p:txBody>
      </p:sp>
      <p:sp>
        <p:nvSpPr>
          <p:cNvPr id="207" name="Shape 207"/>
          <p:cNvSpPr/>
          <p:nvPr/>
        </p:nvSpPr>
        <p:spPr>
          <a:xfrm>
            <a:off x="3293872" y="3799595"/>
            <a:ext cx="2802128" cy="1445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Platform</a:t>
            </a:r>
          </a:p>
        </p:txBody>
      </p:sp>
      <p:sp>
        <p:nvSpPr>
          <p:cNvPr id="208" name="Shape 208"/>
          <p:cNvSpPr/>
          <p:nvPr/>
        </p:nvSpPr>
        <p:spPr>
          <a:xfrm>
            <a:off x="6350000" y="3799595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Hosting</a:t>
            </a:r>
          </a:p>
        </p:txBody>
      </p:sp>
      <p:sp>
        <p:nvSpPr>
          <p:cNvPr id="209" name="Shape 209"/>
          <p:cNvSpPr/>
          <p:nvPr/>
        </p:nvSpPr>
        <p:spPr>
          <a:xfrm>
            <a:off x="6350000" y="4298246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Licences</a:t>
            </a:r>
          </a:p>
        </p:txBody>
      </p:sp>
      <p:sp>
        <p:nvSpPr>
          <p:cNvPr id="210" name="Shape 210"/>
          <p:cNvSpPr/>
          <p:nvPr/>
        </p:nvSpPr>
        <p:spPr>
          <a:xfrm>
            <a:off x="6350000" y="4796897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Payment fees</a:t>
            </a:r>
          </a:p>
        </p:txBody>
      </p:sp>
      <p:sp>
        <p:nvSpPr>
          <p:cNvPr id="211" name="Shape 211"/>
          <p:cNvSpPr/>
          <p:nvPr/>
        </p:nvSpPr>
        <p:spPr>
          <a:xfrm>
            <a:off x="3293872" y="5295548"/>
            <a:ext cx="2802128" cy="946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People</a:t>
            </a:r>
          </a:p>
        </p:txBody>
      </p:sp>
      <p:sp>
        <p:nvSpPr>
          <p:cNvPr id="212" name="Shape 212"/>
          <p:cNvSpPr/>
          <p:nvPr/>
        </p:nvSpPr>
        <p:spPr>
          <a:xfrm>
            <a:off x="6350000" y="5295548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Training</a:t>
            </a:r>
          </a:p>
        </p:txBody>
      </p:sp>
      <p:sp>
        <p:nvSpPr>
          <p:cNvPr id="213" name="Shape 213"/>
          <p:cNvSpPr/>
          <p:nvPr/>
        </p:nvSpPr>
        <p:spPr>
          <a:xfrm>
            <a:off x="6350000" y="5794199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Capacity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1. Driver tree — four branches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Connector 214"/>
          <p:cNvCxnSpPr>
            <a:stCxn id="202" idx="3"/>
            <a:endCxn id="203" idx="1"/>
          </p:cNvCxnSpPr>
          <p:nvPr/>
        </p:nvCxnSpPr>
        <p:spPr>
          <a:xfrm>
            <a:off x="5943600" y="2869520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5" name="Connector 215"/>
          <p:cNvCxnSpPr>
            <a:stCxn id="204" idx="3"/>
            <a:endCxn id="205" idx="1"/>
          </p:cNvCxnSpPr>
          <p:nvPr/>
        </p:nvCxnSpPr>
        <p:spPr>
          <a:xfrm>
            <a:off x="5943600" y="3489635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6" name="Connector 216"/>
          <p:cNvCxnSpPr>
            <a:stCxn id="206" idx="3"/>
            <a:endCxn id="207" idx="1"/>
          </p:cNvCxnSpPr>
          <p:nvPr/>
        </p:nvCxnSpPr>
        <p:spPr>
          <a:xfrm>
            <a:off x="5943600" y="4109750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7" name="Connector 217"/>
          <p:cNvCxnSpPr>
            <a:stCxn id="208" idx="3"/>
            <a:endCxn id="209" idx="1"/>
          </p:cNvCxnSpPr>
          <p:nvPr/>
        </p:nvCxnSpPr>
        <p:spPr>
          <a:xfrm>
            <a:off x="5943600" y="4729865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8" name="Connector 218"/>
          <p:cNvCxnSpPr>
            <a:stCxn id="210" idx="3"/>
            <a:endCxn id="211" idx="1"/>
          </p:cNvCxnSpPr>
          <p:nvPr/>
        </p:nvCxnSpPr>
        <p:spPr>
          <a:xfrm>
            <a:off x="5943600" y="5349979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9" name="Connector 219"/>
          <p:cNvCxnSpPr>
            <a:stCxn id="212" idx="3"/>
            <a:endCxn id="213" idx="1"/>
          </p:cNvCxnSpPr>
          <p:nvPr/>
        </p:nvCxnSpPr>
        <p:spPr>
          <a:xfrm>
            <a:off x="5943600" y="5970093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5105400" cy="716375"/>
          </a:xfrm>
          <a:prstGeom prst="rect">
            <a:avLst/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+mn-lt"/>
              </a:rPr>
              <a:t>Northwind Group</a:t>
            </a:r>
          </a:p>
        </p:txBody>
      </p:sp>
      <p:sp>
        <p:nvSpPr>
          <p:cNvPr id="201" name="Shape 201"/>
          <p:cNvSpPr/>
          <p:nvPr/>
        </p:nvSpPr>
        <p:spPr>
          <a:xfrm>
            <a:off x="6248400" y="1804988"/>
            <a:ext cx="5105400" cy="716375"/>
          </a:xfrm>
          <a:prstGeom prst="rect">
            <a:avLst/>
          </a:prstGeom>
          <a:solidFill>
            <a:schemeClr val="accent4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+mn-lt"/>
              </a:rPr>
              <a:t>Helios Advisory</a:t>
            </a:r>
          </a:p>
        </p:txBody>
      </p:sp>
      <p:sp>
        <p:nvSpPr>
          <p:cNvPr id="202" name="Shape 202"/>
          <p:cNvSpPr/>
          <p:nvPr/>
        </p:nvSpPr>
        <p:spPr>
          <a:xfrm>
            <a:off x="838200" y="259756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Eva Larsen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Chief Executive</a:t>
            </a:r>
          </a:p>
        </p:txBody>
      </p:sp>
      <p:sp>
        <p:nvSpPr>
          <p:cNvPr id="203" name="Shape 203"/>
          <p:cNvSpPr/>
          <p:nvPr/>
        </p:nvSpPr>
        <p:spPr>
          <a:xfrm>
            <a:off x="6248400" y="259756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Pavel Novak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Managing Partner</a:t>
            </a:r>
          </a:p>
        </p:txBody>
      </p:sp>
      <p:sp>
        <p:nvSpPr>
          <p:cNvPr id="204" name="Shape 204"/>
          <p:cNvSpPr/>
          <p:nvPr/>
        </p:nvSpPr>
        <p:spPr>
          <a:xfrm>
            <a:off x="838200" y="3217678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Kenji Sato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Chief Operating Officer</a:t>
            </a:r>
          </a:p>
        </p:txBody>
      </p:sp>
      <p:sp>
        <p:nvSpPr>
          <p:cNvPr id="205" name="Shape 205"/>
          <p:cNvSpPr/>
          <p:nvPr/>
        </p:nvSpPr>
        <p:spPr>
          <a:xfrm>
            <a:off x="6248400" y="3217678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Naomi Reyes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Programme Director</a:t>
            </a:r>
          </a:p>
        </p:txBody>
      </p:sp>
      <p:sp>
        <p:nvSpPr>
          <p:cNvPr id="206" name="Shape 206"/>
          <p:cNvSpPr/>
          <p:nvPr/>
        </p:nvSpPr>
        <p:spPr>
          <a:xfrm>
            <a:off x="838200" y="383779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Olu Adeyemi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Programme Sponsor</a:t>
            </a:r>
          </a:p>
        </p:txBody>
      </p:sp>
      <p:sp>
        <p:nvSpPr>
          <p:cNvPr id="207" name="Shape 207"/>
          <p:cNvSpPr/>
          <p:nvPr/>
        </p:nvSpPr>
        <p:spPr>
          <a:xfrm>
            <a:off x="6248400" y="383779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Aisha Khan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Engagement Manager</a:t>
            </a:r>
          </a:p>
        </p:txBody>
      </p:sp>
      <p:sp>
        <p:nvSpPr>
          <p:cNvPr id="208" name="Shape 208"/>
          <p:cNvSpPr/>
          <p:nvPr/>
        </p:nvSpPr>
        <p:spPr>
          <a:xfrm>
            <a:off x="838200" y="4457908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Marta Silva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Functional Lead</a:t>
            </a:r>
          </a:p>
        </p:txBody>
      </p:sp>
      <p:sp>
        <p:nvSpPr>
          <p:cNvPr id="209" name="Shape 209"/>
          <p:cNvSpPr/>
          <p:nvPr/>
        </p:nvSpPr>
        <p:spPr>
          <a:xfrm>
            <a:off x="6248400" y="4457908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Yusuf Bello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Senior Consultant</a:t>
            </a:r>
          </a:p>
        </p:txBody>
      </p:sp>
      <p:sp>
        <p:nvSpPr>
          <p:cNvPr id="210" name="Shape 210"/>
          <p:cNvSpPr/>
          <p:nvPr/>
        </p:nvSpPr>
        <p:spPr>
          <a:xfrm>
            <a:off x="838200" y="5078022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Chen Wei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Technology Lead</a:t>
            </a:r>
          </a:p>
        </p:txBody>
      </p:sp>
      <p:sp>
        <p:nvSpPr>
          <p:cNvPr id="211" name="Shape 211"/>
          <p:cNvSpPr/>
          <p:nvPr/>
        </p:nvSpPr>
        <p:spPr>
          <a:xfrm>
            <a:off x="6248400" y="5078022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Hannah Wolf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Solution Architect</a:t>
            </a:r>
          </a:p>
        </p:txBody>
      </p:sp>
      <p:sp>
        <p:nvSpPr>
          <p:cNvPr id="212" name="Shape 212"/>
          <p:cNvSpPr/>
          <p:nvPr/>
        </p:nvSpPr>
        <p:spPr>
          <a:xfrm>
            <a:off x="838200" y="5698136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Sofia Russo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Change Champion</a:t>
            </a:r>
          </a:p>
        </p:txBody>
      </p:sp>
      <p:sp>
        <p:nvSpPr>
          <p:cNvPr id="213" name="Shape 213"/>
          <p:cNvSpPr/>
          <p:nvPr/>
        </p:nvSpPr>
        <p:spPr>
          <a:xfrm>
            <a:off x="6248400" y="5698136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Ravi Iyer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Change Lead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2. Dual organisation — six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Connector 205"/>
          <p:cNvCxnSpPr>
            <a:stCxn id="200" idx="3"/>
            <a:endCxn id="201" idx="1"/>
          </p:cNvCxnSpPr>
          <p:nvPr/>
        </p:nvCxnSpPr>
        <p:spPr>
          <a:xfrm>
            <a:off x="28194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6" name="Connector 206"/>
          <p:cNvCxnSpPr>
            <a:stCxn id="201" idx="3"/>
            <a:endCxn id="202" idx="1"/>
          </p:cNvCxnSpPr>
          <p:nvPr/>
        </p:nvCxnSpPr>
        <p:spPr>
          <a:xfrm>
            <a:off x="49530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7" name="Connector 207"/>
          <p:cNvCxnSpPr>
            <a:stCxn id="202" idx="3"/>
            <a:endCxn id="203" idx="1"/>
          </p:cNvCxnSpPr>
          <p:nvPr/>
        </p:nvCxnSpPr>
        <p:spPr>
          <a:xfrm>
            <a:off x="70866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8" name="Connector 208"/>
          <p:cNvCxnSpPr>
            <a:stCxn id="203" idx="3"/>
            <a:endCxn id="204" idx="1"/>
          </p:cNvCxnSpPr>
          <p:nvPr/>
        </p:nvCxnSpPr>
        <p:spPr>
          <a:xfrm>
            <a:off x="92202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sp>
        <p:nvSpPr>
          <p:cNvPr id="200" name="Shape 200"/>
          <p:cNvSpPr/>
          <p:nvPr/>
        </p:nvSpPr>
        <p:spPr>
          <a:xfrm>
            <a:off x="8382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Ingest</a:t>
            </a:r>
          </a:p>
        </p:txBody>
      </p:sp>
      <p:sp>
        <p:nvSpPr>
          <p:cNvPr id="201" name="Shape 201"/>
          <p:cNvSpPr/>
          <p:nvPr/>
        </p:nvSpPr>
        <p:spPr>
          <a:xfrm>
            <a:off x="29718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Transform</a:t>
            </a:r>
          </a:p>
        </p:txBody>
      </p:sp>
      <p:sp>
        <p:nvSpPr>
          <p:cNvPr id="202" name="Shape 202"/>
          <p:cNvSpPr/>
          <p:nvPr/>
        </p:nvSpPr>
        <p:spPr>
          <a:xfrm>
            <a:off x="5105400" y="3248819"/>
            <a:ext cx="1981200" cy="1549400"/>
          </a:xfrm>
          <a:prstGeom prst="diamond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Validate</a:t>
            </a:r>
          </a:p>
        </p:txBody>
      </p:sp>
      <p:sp>
        <p:nvSpPr>
          <p:cNvPr id="203" name="Shape 203"/>
          <p:cNvSpPr/>
          <p:nvPr/>
        </p:nvSpPr>
        <p:spPr>
          <a:xfrm>
            <a:off x="72390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Analyze</a:t>
            </a:r>
          </a:p>
        </p:txBody>
      </p:sp>
      <p:sp>
        <p:nvSpPr>
          <p:cNvPr id="204" name="Shape 204"/>
          <p:cNvSpPr/>
          <p:nvPr/>
        </p:nvSpPr>
        <p:spPr>
          <a:xfrm>
            <a:off x="93726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Alert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3. Process flow —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38200" y="1804988"/>
            <a:ext cx="1554480" cy="1462088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Sales Rep</a:t>
            </a:r>
          </a:p>
        </p:txBody>
      </p:sp>
      <p:sp>
        <p:nvSpPr>
          <p:cNvPr id="201" name="Shape 201"/>
          <p:cNvSpPr/>
          <p:nvPr/>
        </p:nvSpPr>
        <p:spPr>
          <a:xfrm>
            <a:off x="2443480" y="1804988"/>
            <a:ext cx="2936240" cy="1462088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Qualify lead</a:t>
            </a:r>
          </a:p>
        </p:txBody>
      </p:sp>
      <p:sp>
        <p:nvSpPr>
          <p:cNvPr id="202" name="Shape 202"/>
          <p:cNvSpPr/>
          <p:nvPr/>
        </p:nvSpPr>
        <p:spPr>
          <a:xfrm>
            <a:off x="5430520" y="1804988"/>
            <a:ext cx="2936240" cy="1462088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Submit proposal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7560" y="1804988"/>
            <a:ext cx="2936240" cy="1462088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38200" y="3292476"/>
            <a:ext cx="1554480" cy="1462087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Legal</a:t>
            </a:r>
          </a:p>
        </p:txBody>
      </p:sp>
      <p:sp>
        <p:nvSpPr>
          <p:cNvPr id="205" name="Shape 205"/>
          <p:cNvSpPr/>
          <p:nvPr/>
        </p:nvSpPr>
        <p:spPr>
          <a:xfrm>
            <a:off x="2443480" y="3292476"/>
            <a:ext cx="2936240" cy="1462087"/>
          </a:xfrm>
          <a:prstGeom prst="rect">
            <a:avLst/>
          </a:prstGeom>
          <a:solidFill>
            <a:schemeClr val="lt2">
              <a:alpha val="50000"/>
            </a:schemeClr>
          </a:solidFill>
        </p:spPr>
        <p:txBody>
          <a:bodyPr/>
          <a:lstStyle/>
          <a:p/>
        </p:txBody>
      </p:sp>
      <p:sp>
        <p:nvSpPr>
          <p:cNvPr id="206" name="Shape 206"/>
          <p:cNvSpPr/>
          <p:nvPr/>
        </p:nvSpPr>
        <p:spPr>
          <a:xfrm>
            <a:off x="5430520" y="3292476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2">
              <a:alpha val="5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Review terms</a:t>
            </a:r>
          </a:p>
        </p:txBody>
      </p:sp>
      <p:sp>
        <p:nvSpPr>
          <p:cNvPr id="207" name="Shape 207"/>
          <p:cNvSpPr/>
          <p:nvPr/>
        </p:nvSpPr>
        <p:spPr>
          <a:xfrm>
            <a:off x="8417560" y="3292476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2">
              <a:alpha val="5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Approve contract</a:t>
            </a:r>
          </a:p>
        </p:txBody>
      </p:sp>
      <p:sp>
        <p:nvSpPr>
          <p:cNvPr id="208" name="Shape 208"/>
          <p:cNvSpPr/>
          <p:nvPr/>
        </p:nvSpPr>
        <p:spPr>
          <a:xfrm>
            <a:off x="838200" y="4779963"/>
            <a:ext cx="1554480" cy="1462087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Finance</a:t>
            </a:r>
          </a:p>
        </p:txBody>
      </p:sp>
      <p:sp>
        <p:nvSpPr>
          <p:cNvPr id="209" name="Shape 209"/>
          <p:cNvSpPr/>
          <p:nvPr/>
        </p:nvSpPr>
        <p:spPr>
          <a:xfrm>
            <a:off x="2443480" y="4779963"/>
            <a:ext cx="2936240" cy="1462087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10" name="Shape 210"/>
          <p:cNvSpPr/>
          <p:nvPr/>
        </p:nvSpPr>
        <p:spPr>
          <a:xfrm>
            <a:off x="5430520" y="4779963"/>
            <a:ext cx="2936240" cy="1462087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8417560" y="4779963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Book revenue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4. Swimlane — cross-team handoffs</a:t>
            </a:r>
          </a:p>
        </p:txBody>
      </p:sp>
      <p:cxnSp>
        <p:nvCxnSpPr>
          <p:cNvPr id="400" name="Overlay arrow 1"/>
          <p:cNvCxnSpPr/>
          <p:nvPr/>
        </p:nvCxnSpPr>
        <p:spPr>
          <a:xfrm>
            <a:off x="5086096" y="3120868"/>
            <a:ext cx="638048" cy="31781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401" name="Overlay arrow 2"/>
          <p:cNvCxnSpPr/>
          <p:nvPr/>
        </p:nvCxnSpPr>
        <p:spPr>
          <a:xfrm>
            <a:off x="9885680" y="4608355"/>
            <a:ext cx="1" cy="31781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pPr marL="0" indent="0" algn="l">
              <a:buNone/>
            </a:pPr>
            <a:r>
              <a:rPr lang="en-US"/>
              <a:t>5. Porter’s Five Forces</a:t>
            </a:r>
          </a:p>
        </p:txBody>
      </p:sp>
      <p:grpSp>
        <p:nvGrpSpPr>
          <p:cNvPr id="10000" name="Porters Five Forces" descr="Porters five forces diagram, Enterprise Cloud Services. 5 forces."/>
          <p:cNvGrpSpPr/>
          <p:nvPr/>
        </p:nvGrpSpPr>
        <p:grpSpPr>
          <a:xfrm>
            <a:off x="838200" y="1825625"/>
            <a:ext cx="10515600" cy="4351338"/>
            <a:chOff x="838200" y="1825625"/>
            <a:chExt cx="10515600" cy="4351338"/>
          </a:xfrm>
        </p:grpSpPr>
        <p:sp>
          <p:nvSpPr>
            <p:cNvPr id="10001" name="Porter Competitive Rivalry"/>
            <p:cNvSpPr/>
            <p:nvPr/>
          </p:nvSpPr>
          <p:spPr>
            <a:xfrm>
              <a:off x="4518660" y="3348594"/>
              <a:ext cx="3154680" cy="1305401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accent1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dk1"/>
                  </a:solidFill>
                </a:rPr>
                <a:t>Competitive Rivalry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High (90%)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AWS, Azure, GCP dominance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Price competition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Feature parity race</a:t>
              </a:r>
            </a:p>
          </p:txBody>
        </p:sp>
        <p:sp>
          <p:nvSpPr>
            <p:cNvPr id="10002" name="Porter Threat of New Entrants"/>
            <p:cNvSpPr/>
            <p:nvPr/>
          </p:nvSpPr>
          <p:spPr>
            <a:xfrm>
              <a:off x="4623816" y="1825625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accent5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Threat of New Entrants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Low (30%)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High capital requirements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Economies of scale needed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Brand loyalty barriers</a:t>
              </a:r>
            </a:p>
          </p:txBody>
        </p:sp>
        <p:sp>
          <p:nvSpPr>
            <p:cNvPr id="10003" name="Porter Threat of Substitutes"/>
            <p:cNvSpPr/>
            <p:nvPr/>
          </p:nvSpPr>
          <p:spPr>
            <a:xfrm>
              <a:off x="4623816" y="5089129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accent3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Threat of Substitutes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Medium (50%)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On-premise declining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Hybrid options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Edge computing emerging</a:t>
              </a:r>
            </a:p>
          </p:txBody>
        </p:sp>
        <p:sp>
          <p:nvSpPr>
            <p:cNvPr id="10004" name="Porter Supplier Power"/>
            <p:cNvSpPr/>
            <p:nvPr/>
          </p:nvSpPr>
          <p:spPr>
            <a:xfrm>
              <a:off x="838200" y="3457377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accent3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Supplier Power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Medium (60%)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Chip shortages impact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Data center real estate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Network providers</a:t>
              </a:r>
            </a:p>
          </p:txBody>
        </p:sp>
        <p:sp>
          <p:nvSpPr>
            <p:cNvPr id="10005" name="Porter Buyer Power"/>
            <p:cNvSpPr/>
            <p:nvPr/>
          </p:nvSpPr>
          <p:spPr>
            <a:xfrm>
              <a:off x="8409432" y="3457377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accent1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Buyer Power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High (70%)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Multi-cloud strategies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Negotiation leverage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Switching costs decreasing</a:t>
              </a:r>
            </a:p>
          </p:txBody>
        </p:sp>
        <p:cxnSp>
          <p:nvCxnSpPr>
            <p:cNvPr id="10006" name="Porter Connector 10006"/>
            <p:cNvCxnSpPr>
              <a:stCxn id="10002" idx="2"/>
              <a:endCxn id="10001" idx="0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 w="med" len="med"/>
            </a:ln>
          </p:spPr>
        </p:cxnSp>
        <p:cxnSp>
          <p:nvCxnSpPr>
            <p:cNvPr id="10007" name="Porter Connector 10007"/>
            <p:cNvCxnSpPr>
              <a:stCxn id="10003" idx="0"/>
              <a:endCxn id="10001" idx="2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 w="med" len="med"/>
            </a:ln>
          </p:spPr>
        </p:cxnSp>
        <p:cxnSp>
          <p:nvCxnSpPr>
            <p:cNvPr id="10008" name="Porter Connector 10008"/>
            <p:cNvCxnSpPr>
              <a:stCxn id="10004" idx="3"/>
              <a:endCxn id="10001" idx="1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 w="med" len="med"/>
            </a:ln>
          </p:spPr>
        </p:cxnSp>
        <p:cxnSp>
          <p:nvCxnSpPr>
            <p:cNvPr id="10009" name="Porter Connector 10009"/>
            <p:cNvCxnSpPr>
              <a:stCxn id="10005" idx="1"/>
              <a:endCxn id="10001" idx="3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Connector 207"/>
          <p:cNvCxnSpPr>
            <a:stCxn id="200" idx="3"/>
            <a:endCxn id="201" idx="1"/>
          </p:cNvCxnSpPr>
          <p:nvPr/>
        </p:nvCxnSpPr>
        <p:spPr>
          <a:xfrm flipV="1">
            <a:off x="4207934" y="2485232"/>
            <a:ext cx="203200" cy="1538287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08" name="Connector 208"/>
          <p:cNvCxnSpPr>
            <a:stCxn id="201" idx="3"/>
            <a:endCxn id="202" idx="1"/>
          </p:cNvCxnSpPr>
          <p:nvPr/>
        </p:nvCxnSpPr>
        <p:spPr>
          <a:xfrm>
            <a:off x="7780867" y="2485232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09" name="Connector 209"/>
          <p:cNvCxnSpPr>
            <a:stCxn id="200" idx="3"/>
            <a:endCxn id="203" idx="1"/>
          </p:cNvCxnSpPr>
          <p:nvPr/>
        </p:nvCxnSpPr>
        <p:spPr>
          <a:xfrm>
            <a:off x="4207934" y="4023519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0" name="Connector 210"/>
          <p:cNvCxnSpPr>
            <a:stCxn id="203" idx="3"/>
            <a:endCxn id="204" idx="1"/>
          </p:cNvCxnSpPr>
          <p:nvPr/>
        </p:nvCxnSpPr>
        <p:spPr>
          <a:xfrm>
            <a:off x="7780867" y="4023519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1" name="Connector 211"/>
          <p:cNvCxnSpPr>
            <a:stCxn id="200" idx="3"/>
            <a:endCxn id="205" idx="1"/>
          </p:cNvCxnSpPr>
          <p:nvPr/>
        </p:nvCxnSpPr>
        <p:spPr>
          <a:xfrm>
            <a:off x="4207934" y="4023519"/>
            <a:ext cx="203200" cy="1538287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2" name="Connector 212"/>
          <p:cNvCxnSpPr>
            <a:stCxn id="205" idx="3"/>
            <a:endCxn id="206" idx="1"/>
          </p:cNvCxnSpPr>
          <p:nvPr/>
        </p:nvCxnSpPr>
        <p:spPr>
          <a:xfrm>
            <a:off x="7780867" y="5561806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3369734" cy="4437062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Programme</a:t>
            </a:r>
          </a:p>
        </p:txBody>
      </p:sp>
      <p:sp>
        <p:nvSpPr>
          <p:cNvPr id="201" name="Shape 201"/>
          <p:cNvSpPr/>
          <p:nvPr/>
        </p:nvSpPr>
        <p:spPr>
          <a:xfrm>
            <a:off x="4411134" y="1804988"/>
            <a:ext cx="3369733" cy="1360488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Technology</a:t>
            </a:r>
          </a:p>
        </p:txBody>
      </p:sp>
      <p:sp>
        <p:nvSpPr>
          <p:cNvPr id="202" name="Shape 202"/>
          <p:cNvSpPr/>
          <p:nvPr/>
        </p:nvSpPr>
        <p:spPr>
          <a:xfrm>
            <a:off x="7984067" y="1804988"/>
            <a:ext cx="3369733" cy="1360488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Deploy platform</a:t>
            </a:r>
          </a:p>
        </p:txBody>
      </p:sp>
      <p:sp>
        <p:nvSpPr>
          <p:cNvPr id="203" name="Shape 203"/>
          <p:cNvSpPr/>
          <p:nvPr/>
        </p:nvSpPr>
        <p:spPr>
          <a:xfrm>
            <a:off x="4411134" y="3343276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Operations</a:t>
            </a:r>
          </a:p>
        </p:txBody>
      </p:sp>
      <p:sp>
        <p:nvSpPr>
          <p:cNvPr id="204" name="Shape 204"/>
          <p:cNvSpPr/>
          <p:nvPr/>
        </p:nvSpPr>
        <p:spPr>
          <a:xfrm>
            <a:off x="7984067" y="3343276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Redesign process</a:t>
            </a:r>
          </a:p>
        </p:txBody>
      </p:sp>
      <p:sp>
        <p:nvSpPr>
          <p:cNvPr id="205" name="Shape 205"/>
          <p:cNvSpPr/>
          <p:nvPr/>
        </p:nvSpPr>
        <p:spPr>
          <a:xfrm>
            <a:off x="4411134" y="4881563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People</a:t>
            </a:r>
          </a:p>
        </p:txBody>
      </p:sp>
      <p:sp>
        <p:nvSpPr>
          <p:cNvPr id="206" name="Shape 206"/>
          <p:cNvSpPr/>
          <p:nvPr/>
        </p:nvSpPr>
        <p:spPr>
          <a:xfrm>
            <a:off x="7984067" y="4881563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Train teams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6. Explicit connectors — fan-out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Blue">
  <a:themeElements>
    <a:clrScheme name="Midnight Blue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</Template>
  <TotalTime>0</TotalTime>
  <Words>4</Words>
  <Application>go-slide-creator</Application>
  <PresentationFormat>Widescreen</PresentationFormat>
  <Paragraphs>1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